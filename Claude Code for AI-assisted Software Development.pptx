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1"/>
  </p:sldMasterIdLst>
  <p:notesMasterIdLst>
    <p:notesMasterId r:id="rId77"/>
  </p:notesMasterIdLst>
  <p:sldIdLst>
    <p:sldId id="257" r:id="rId2"/>
    <p:sldId id="929" r:id="rId3"/>
    <p:sldId id="1064" r:id="rId4"/>
    <p:sldId id="1065" r:id="rId5"/>
    <p:sldId id="1066" r:id="rId6"/>
    <p:sldId id="1068" r:id="rId7"/>
    <p:sldId id="1067" r:id="rId8"/>
    <p:sldId id="1069" r:id="rId9"/>
    <p:sldId id="1070" r:id="rId10"/>
    <p:sldId id="1062" r:id="rId11"/>
    <p:sldId id="1071" r:id="rId12"/>
    <p:sldId id="1063" r:id="rId13"/>
    <p:sldId id="1041" r:id="rId14"/>
    <p:sldId id="1039" r:id="rId15"/>
    <p:sldId id="1040" r:id="rId16"/>
    <p:sldId id="1035" r:id="rId17"/>
    <p:sldId id="1036" r:id="rId18"/>
    <p:sldId id="1037" r:id="rId19"/>
    <p:sldId id="1072" r:id="rId20"/>
    <p:sldId id="1081" r:id="rId21"/>
    <p:sldId id="1082" r:id="rId22"/>
    <p:sldId id="1083" r:id="rId23"/>
    <p:sldId id="1084" r:id="rId24"/>
    <p:sldId id="1085" r:id="rId25"/>
    <p:sldId id="1087" r:id="rId26"/>
    <p:sldId id="1088" r:id="rId27"/>
    <p:sldId id="1086" r:id="rId28"/>
    <p:sldId id="1089" r:id="rId29"/>
    <p:sldId id="1090" r:id="rId30"/>
    <p:sldId id="1091" r:id="rId31"/>
    <p:sldId id="1093" r:id="rId32"/>
    <p:sldId id="1043" r:id="rId33"/>
    <p:sldId id="1094" r:id="rId34"/>
    <p:sldId id="1095" r:id="rId35"/>
    <p:sldId id="1096" r:id="rId36"/>
    <p:sldId id="1097" r:id="rId37"/>
    <p:sldId id="1098" r:id="rId38"/>
    <p:sldId id="1099" r:id="rId39"/>
    <p:sldId id="1100" r:id="rId40"/>
    <p:sldId id="1101" r:id="rId41"/>
    <p:sldId id="1102" r:id="rId42"/>
    <p:sldId id="1106" r:id="rId43"/>
    <p:sldId id="1103" r:id="rId44"/>
    <p:sldId id="1104" r:id="rId45"/>
    <p:sldId id="1108" r:id="rId46"/>
    <p:sldId id="1110" r:id="rId47"/>
    <p:sldId id="1111" r:id="rId48"/>
    <p:sldId id="1105" r:id="rId49"/>
    <p:sldId id="1112" r:id="rId50"/>
    <p:sldId id="1113" r:id="rId51"/>
    <p:sldId id="1114" r:id="rId52"/>
    <p:sldId id="1115" r:id="rId53"/>
    <p:sldId id="1116" r:id="rId54"/>
    <p:sldId id="1117" r:id="rId55"/>
    <p:sldId id="1118" r:id="rId56"/>
    <p:sldId id="1119" r:id="rId57"/>
    <p:sldId id="1060" r:id="rId58"/>
    <p:sldId id="1061" r:id="rId59"/>
    <p:sldId id="1044" r:id="rId60"/>
    <p:sldId id="1045" r:id="rId61"/>
    <p:sldId id="1046" r:id="rId62"/>
    <p:sldId id="1047" r:id="rId63"/>
    <p:sldId id="1048" r:id="rId64"/>
    <p:sldId id="1049" r:id="rId65"/>
    <p:sldId id="967" r:id="rId66"/>
    <p:sldId id="968" r:id="rId67"/>
    <p:sldId id="969" r:id="rId68"/>
    <p:sldId id="970" r:id="rId69"/>
    <p:sldId id="971" r:id="rId70"/>
    <p:sldId id="972" r:id="rId71"/>
    <p:sldId id="973" r:id="rId72"/>
    <p:sldId id="974" r:id="rId73"/>
    <p:sldId id="1050" r:id="rId74"/>
    <p:sldId id="1051" r:id="rId75"/>
    <p:sldId id="1052" r:id="rId7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7" d="100"/>
          <a:sy n="77" d="100"/>
        </p:scale>
        <p:origin x="912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presProps" Target="presProps.xml"/><Relationship Id="rId8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1ECAA40-53FD-49E4-A619-C51EC8B763F4}" type="datetimeFigureOut">
              <a:rPr lang="en-IN" smtClean="0"/>
              <a:t>22-10-2026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AD3BEF5-AFFA-4995-8648-C9101CD660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952672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g35f391192_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" name="Google Shape;44;g35f391192_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B9A5DC-47FB-49AA-A5DA-E9B0699A4D6E}" type="datetimeFigureOut">
              <a:rPr lang="en-IN" smtClean="0"/>
              <a:t>22-10-2026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DFE51B-E389-460A-8029-9D3860725B2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5527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B9A5DC-47FB-49AA-A5DA-E9B0699A4D6E}" type="datetimeFigureOut">
              <a:rPr lang="en-IN" smtClean="0"/>
              <a:t>22-10-2026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DFE51B-E389-460A-8029-9D3860725B2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311429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B9A5DC-47FB-49AA-A5DA-E9B0699A4D6E}" type="datetimeFigureOut">
              <a:rPr lang="en-IN" smtClean="0"/>
              <a:t>22-10-2026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DFE51B-E389-460A-8029-9D3860725B2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80856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B9A5DC-47FB-49AA-A5DA-E9B0699A4D6E}" type="datetimeFigureOut">
              <a:rPr lang="en-IN" smtClean="0"/>
              <a:t>22-10-2026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DFE51B-E389-460A-8029-9D3860725B2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604394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B9A5DC-47FB-49AA-A5DA-E9B0699A4D6E}" type="datetimeFigureOut">
              <a:rPr lang="en-IN" smtClean="0"/>
              <a:t>22-10-2026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DFE51B-E389-460A-8029-9D3860725B2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788506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B9A5DC-47FB-49AA-A5DA-E9B0699A4D6E}" type="datetimeFigureOut">
              <a:rPr lang="en-IN" smtClean="0"/>
              <a:t>22-10-2026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DFE51B-E389-460A-8029-9D3860725B2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549381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B9A5DC-47FB-49AA-A5DA-E9B0699A4D6E}" type="datetimeFigureOut">
              <a:rPr lang="en-IN" smtClean="0"/>
              <a:t>22-10-2026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DFE51B-E389-460A-8029-9D3860725B2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494447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B9A5DC-47FB-49AA-A5DA-E9B0699A4D6E}" type="datetimeFigureOut">
              <a:rPr lang="en-IN" smtClean="0"/>
              <a:t>22-10-2026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DFE51B-E389-460A-8029-9D3860725B2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655386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B9A5DC-47FB-49AA-A5DA-E9B0699A4D6E}" type="datetimeFigureOut">
              <a:rPr lang="en-IN" smtClean="0"/>
              <a:t>22-10-2026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DFE51B-E389-460A-8029-9D3860725B2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3033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B9A5DC-47FB-49AA-A5DA-E9B0699A4D6E}" type="datetimeFigureOut">
              <a:rPr lang="en-IN" smtClean="0"/>
              <a:t>22-10-2026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DFE51B-E389-460A-8029-9D3860725B2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933504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B9A5DC-47FB-49AA-A5DA-E9B0699A4D6E}" type="datetimeFigureOut">
              <a:rPr lang="en-IN" smtClean="0"/>
              <a:t>22-10-2026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DFE51B-E389-460A-8029-9D3860725B2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088713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3687700" y="2194333"/>
            <a:ext cx="5636000" cy="1909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8568244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B9A5DC-47FB-49AA-A5DA-E9B0699A4D6E}" type="datetimeFigureOut">
              <a:rPr lang="en-IN" smtClean="0"/>
              <a:t>22-10-2026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DFE51B-E389-460A-8029-9D3860725B2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283996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1"/>
          <p:cNvSpPr txBox="1">
            <a:spLocks noGrp="1"/>
          </p:cNvSpPr>
          <p:nvPr>
            <p:ph type="ctrTitle"/>
          </p:nvPr>
        </p:nvSpPr>
        <p:spPr>
          <a:xfrm>
            <a:off x="2335696" y="1816769"/>
            <a:ext cx="6988004" cy="1612232"/>
          </a:xfrm>
          <a:prstGeom prst="rect">
            <a:avLst/>
          </a:prstGeom>
        </p:spPr>
        <p:txBody>
          <a:bodyPr spcFirstLastPara="1" vert="horz" wrap="square" lIns="0" tIns="0" rIns="0" bIns="0" rtlCol="0" anchor="t" anchorCtr="0">
            <a:noAutofit/>
          </a:bodyPr>
          <a:lstStyle/>
          <a:p>
            <a:r>
              <a:rPr lang="en-US" sz="3200" b="1" dirty="0"/>
              <a:t>Claude Code for AI-assisted Software Development</a:t>
            </a:r>
            <a:br>
              <a:rPr lang="en-IN" sz="3200" b="1" dirty="0"/>
            </a:br>
            <a:r>
              <a:rPr lang="en-US" sz="3200" b="1" dirty="0"/>
              <a:t> </a:t>
            </a:r>
            <a:br>
              <a:rPr lang="en-IN" sz="3200" b="1" dirty="0"/>
            </a:br>
            <a:r>
              <a:rPr lang="en-IN" sz="3200" b="1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                  </a:t>
            </a:r>
            <a:br>
              <a:rPr lang="en-IN" sz="3200" b="1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3200" b="1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3200" b="1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3200" b="1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Premalatha T</a:t>
            </a:r>
            <a:br>
              <a:rPr lang="en-IN" sz="3200" b="1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3200" b="1" dirty="0"/>
            </a:br>
            <a:endParaRPr sz="3200" b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15C03A-BDF6-F6B0-B50D-13FA2F03B4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67327"/>
          </a:xfrm>
        </p:spPr>
        <p:txBody>
          <a:bodyPr/>
          <a:lstStyle/>
          <a:p>
            <a:r>
              <a:rPr lang="en-IN" dirty="0"/>
              <a:t>WHO  AM I?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70BFD3-09A2-176B-838F-D9D9C84A2C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32452"/>
            <a:ext cx="10515600" cy="4944511"/>
          </a:xfrm>
        </p:spPr>
        <p:txBody>
          <a:bodyPr>
            <a:normAutofit/>
          </a:bodyPr>
          <a:lstStyle/>
          <a:p>
            <a:r>
              <a:rPr lang="en-IN" sz="2800" dirty="0"/>
              <a:t>LinkedIn: https://www.linkedin.com/in/latha-t-k-b21018128/</a:t>
            </a:r>
          </a:p>
          <a:p>
            <a:pPr algn="l" fontAlgn="auto"/>
            <a:r>
              <a:rPr lang="en-IN" sz="2800" b="0" i="0" dirty="0">
                <a:effectLst/>
                <a:latin typeface="-apple-system"/>
              </a:rPr>
              <a:t>Data Science ,AIML</a:t>
            </a:r>
          </a:p>
          <a:p>
            <a:pPr algn="l" fontAlgn="auto"/>
            <a:r>
              <a:rPr lang="en-IN" sz="2800" b="0" i="0" dirty="0">
                <a:effectLst/>
                <a:latin typeface="-apple-system"/>
              </a:rPr>
              <a:t>Data Analysis ,SQL, PySpark</a:t>
            </a:r>
          </a:p>
          <a:p>
            <a:pPr algn="l" fontAlgn="auto"/>
            <a:r>
              <a:rPr lang="en-IN" sz="2800" b="0" i="0" dirty="0">
                <a:effectLst/>
                <a:latin typeface="-apple-system"/>
              </a:rPr>
              <a:t>Data Visualization ,PowerBI, Tableau</a:t>
            </a:r>
          </a:p>
          <a:p>
            <a:pPr algn="l" fontAlgn="auto"/>
            <a:r>
              <a:rPr lang="en-IN" sz="2800" b="0" i="0" dirty="0">
                <a:effectLst/>
                <a:latin typeface="-apple-system"/>
              </a:rPr>
              <a:t>Natural Language Processing (NLP) </a:t>
            </a:r>
          </a:p>
          <a:p>
            <a:pPr algn="l" fontAlgn="auto"/>
            <a:r>
              <a:rPr lang="en-IN" sz="2800" b="0" i="0" dirty="0">
                <a:effectLst/>
                <a:latin typeface="-apple-system"/>
              </a:rPr>
              <a:t>Computer Vision</a:t>
            </a:r>
          </a:p>
          <a:p>
            <a:pPr algn="l" fontAlgn="auto"/>
            <a:r>
              <a:rPr lang="en-IN" sz="2800" dirty="0">
                <a:latin typeface="-apple-system"/>
              </a:rPr>
              <a:t>Generative AI, Prompt Engineering</a:t>
            </a:r>
          </a:p>
          <a:p>
            <a:pPr algn="l" fontAlgn="auto"/>
            <a:r>
              <a:rPr lang="en-IN" sz="2800" b="0" i="0" dirty="0">
                <a:effectLst/>
                <a:latin typeface="-apple-system"/>
              </a:rPr>
              <a:t>BigData and Data Engineering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DF5BF6F-44AF-67E7-69EF-BC21F5AE96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9668" y="4124739"/>
            <a:ext cx="3332332" cy="27332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48014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59DB9E-36EB-51DD-8610-2E354ADF8B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What is Artificial Intelligence?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AABC68-10E6-36B1-0442-F0327B7AC8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92696" y="2226365"/>
            <a:ext cx="10311916" cy="4214191"/>
          </a:xfrm>
        </p:spPr>
        <p:txBody>
          <a:bodyPr>
            <a:normAutofit/>
          </a:bodyPr>
          <a:lstStyle/>
          <a:p>
            <a:pPr>
              <a:lnSpc>
                <a:spcPct val="200000"/>
              </a:lnSpc>
            </a:pPr>
            <a:r>
              <a:rPr lang="en-US" dirty="0"/>
              <a:t>Artificial Intelligence (AI) refers to the ability of machines or computer systems to perform tasks that normally require human intelligence.</a:t>
            </a:r>
          </a:p>
          <a:p>
            <a:pPr>
              <a:lnSpc>
                <a:spcPct val="200000"/>
              </a:lnSpc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571728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296DED-C5F4-FDAD-F7EF-F9510B6834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Tasks</a:t>
            </a:r>
            <a:br>
              <a:rPr lang="en-US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BB30FE-B0B7-79B6-2994-9F75C665BC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Learning from data </a:t>
            </a:r>
          </a:p>
          <a:p>
            <a:r>
              <a:rPr lang="en-US" dirty="0"/>
              <a:t>Understanding language </a:t>
            </a:r>
          </a:p>
          <a:p>
            <a:r>
              <a:rPr lang="en-US" dirty="0"/>
              <a:t>Recognizing images and speech </a:t>
            </a:r>
          </a:p>
          <a:p>
            <a:r>
              <a:rPr lang="en-US" dirty="0"/>
              <a:t>Making decisions </a:t>
            </a:r>
          </a:p>
          <a:p>
            <a:r>
              <a:rPr lang="en-US" dirty="0"/>
              <a:t>Solving problems </a:t>
            </a:r>
          </a:p>
          <a:p>
            <a:r>
              <a:rPr lang="en-US" dirty="0"/>
              <a:t>Generating content </a:t>
            </a:r>
          </a:p>
          <a:p>
            <a:r>
              <a:rPr lang="en-US" dirty="0"/>
              <a:t>Reasoning and planning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727713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848D9D-2540-8904-A61F-F024A8CF4F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AI Around Us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6017798-7D56-7650-4287-8D4B93DE3F4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506471"/>
            <a:ext cx="10601738" cy="41549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Google Search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Maps Navigation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Netflix Recommendations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Amazon Product Suggestions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Face Unlock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Voice Assistants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Spam Detection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Grammar Correction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Banking Fraud Detection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Healthcare Diagnosis Support </a:t>
            </a:r>
          </a:p>
        </p:txBody>
      </p:sp>
    </p:spTree>
    <p:extLst>
      <p:ext uri="{BB962C8B-B14F-4D97-AF65-F5344CB8AC3E}">
        <p14:creationId xmlns:p14="http://schemas.microsoft.com/office/powerpoint/2010/main" val="13388681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354D7B-16F0-9D01-9D56-D54B1DBB87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5922" y="2295939"/>
            <a:ext cx="10687877" cy="2425148"/>
          </a:xfrm>
        </p:spPr>
        <p:txBody>
          <a:bodyPr/>
          <a:lstStyle/>
          <a:p>
            <a:r>
              <a:rPr lang="en-US" dirty="0"/>
              <a:t>How many AI applications have you already used before reaching office today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067784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BDE3B3-EBF1-BE50-C8AB-19ED3BB3F6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AI is Like a Student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3559C4-EC2F-9953-19DD-BFE245F5B3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5617" y="2703443"/>
            <a:ext cx="10638184" cy="243508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Human Student</a:t>
            </a:r>
          </a:p>
          <a:p>
            <a:r>
              <a:rPr lang="en-US" dirty="0"/>
              <a:t>Learns from books </a:t>
            </a:r>
          </a:p>
          <a:p>
            <a:r>
              <a:rPr lang="en-US" dirty="0"/>
              <a:t>Makes mistakes </a:t>
            </a:r>
          </a:p>
          <a:p>
            <a:r>
              <a:rPr lang="en-US" dirty="0"/>
              <a:t>Improves through practice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672034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0D4741-D9DF-1F69-DEC6-4620259BDA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AI is Like a Student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3006E6-E901-3BD1-6F84-93E395B648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AI Model</a:t>
            </a:r>
          </a:p>
          <a:p>
            <a:r>
              <a:rPr lang="en-US" dirty="0"/>
              <a:t>Learns from data </a:t>
            </a:r>
          </a:p>
          <a:p>
            <a:r>
              <a:rPr lang="en-US" dirty="0"/>
              <a:t>Makes predictions </a:t>
            </a:r>
          </a:p>
          <a:p>
            <a:r>
              <a:rPr lang="en-US" dirty="0"/>
              <a:t>Improves with better training </a:t>
            </a:r>
          </a:p>
          <a:p>
            <a:r>
              <a:rPr lang="en-US" dirty="0"/>
              <a:t>Important Message</a:t>
            </a:r>
          </a:p>
          <a:p>
            <a:r>
              <a:rPr lang="en-US" dirty="0"/>
              <a:t>AI does not "think."</a:t>
            </a:r>
          </a:p>
          <a:p>
            <a:r>
              <a:rPr lang="en-US" dirty="0"/>
              <a:t>It predicts the most probable answer.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801037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BB2000-BB6F-26AC-7BA0-FC61E805F6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Activity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EBC81E-767E-80FA-DF80-F0635B3104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Create a realistic image of a software engineer working in an office.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328970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816708-0220-023D-87F6-A088BEC074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1904" y="2723322"/>
            <a:ext cx="10182708" cy="1590260"/>
          </a:xfrm>
        </p:spPr>
        <p:txBody>
          <a:bodyPr/>
          <a:lstStyle/>
          <a:p>
            <a:r>
              <a:rPr lang="en-IN" b="1" dirty="0"/>
              <a:t>Create an image of a man </a:t>
            </a:r>
            <a:br>
              <a:rPr lang="en-IN" b="1" dirty="0"/>
            </a:br>
            <a:r>
              <a:rPr lang="en-IN" b="1" dirty="0"/>
              <a:t>writing with Left hand</a:t>
            </a:r>
          </a:p>
        </p:txBody>
      </p:sp>
    </p:spTree>
    <p:extLst>
      <p:ext uri="{BB962C8B-B14F-4D97-AF65-F5344CB8AC3E}">
        <p14:creationId xmlns:p14="http://schemas.microsoft.com/office/powerpoint/2010/main" val="36656534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E2E5A6-26D8-BE83-0A1F-E8F5E55826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Image Generation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F610EA-4DB0-99D8-0634-0D6E9DFF41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Create an image of a doctor treating a patient.</a:t>
            </a:r>
          </a:p>
          <a:p>
            <a:r>
              <a:rPr lang="en-US" dirty="0"/>
              <a:t>Then ask participants:</a:t>
            </a:r>
          </a:p>
          <a:p>
            <a:r>
              <a:rPr lang="en-US" dirty="0"/>
              <a:t>Now modify the prompt.</a:t>
            </a:r>
          </a:p>
          <a:p>
            <a:r>
              <a:rPr lang="en-US" dirty="0"/>
              <a:t>Examples</a:t>
            </a:r>
          </a:p>
          <a:p>
            <a:r>
              <a:rPr lang="en-US" dirty="0"/>
              <a:t>Female doctor </a:t>
            </a:r>
          </a:p>
          <a:p>
            <a:r>
              <a:rPr lang="en-US" dirty="0"/>
              <a:t>Rural hospital </a:t>
            </a:r>
          </a:p>
          <a:p>
            <a:r>
              <a:rPr lang="en-US" dirty="0"/>
              <a:t>Pediatrician </a:t>
            </a:r>
          </a:p>
          <a:p>
            <a:r>
              <a:rPr lang="en-US" dirty="0"/>
              <a:t>Wearing PPE </a:t>
            </a:r>
          </a:p>
          <a:p>
            <a:r>
              <a:rPr lang="en-US" dirty="0"/>
              <a:t>Elderly patient </a:t>
            </a:r>
          </a:p>
          <a:p>
            <a:r>
              <a:rPr lang="en-US" dirty="0"/>
              <a:t>Wheelchair user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342669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AC34F9-C7A3-B55D-9E5C-298941E3FB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1052" y="1928190"/>
            <a:ext cx="10043560" cy="2206487"/>
          </a:xfrm>
        </p:spPr>
        <p:txBody>
          <a:bodyPr>
            <a:normAutofit/>
          </a:bodyPr>
          <a:lstStyle/>
          <a:p>
            <a:r>
              <a:rPr lang="en-IN" b="1" dirty="0"/>
              <a:t>According to our communication </a:t>
            </a:r>
            <a:r>
              <a:rPr lang="en-IN" b="1" dirty="0" err="1"/>
              <a:t>sofar</a:t>
            </a:r>
            <a:r>
              <a:rPr lang="en-IN" b="1" dirty="0"/>
              <a:t>,</a:t>
            </a:r>
            <a:br>
              <a:rPr lang="en-IN" b="1" dirty="0"/>
            </a:br>
            <a:r>
              <a:rPr lang="en-IN" b="1" dirty="0"/>
              <a:t>Which </a:t>
            </a:r>
            <a:r>
              <a:rPr lang="en-IN" b="1" dirty="0" err="1"/>
              <a:t>hindi</a:t>
            </a:r>
            <a:r>
              <a:rPr lang="en-IN" b="1" dirty="0"/>
              <a:t> movie character do you relate me with? Justify.</a:t>
            </a:r>
          </a:p>
        </p:txBody>
      </p:sp>
    </p:spTree>
    <p:extLst>
      <p:ext uri="{BB962C8B-B14F-4D97-AF65-F5344CB8AC3E}">
        <p14:creationId xmlns:p14="http://schemas.microsoft.com/office/powerpoint/2010/main" val="2030537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200E4A8-8A1F-2A3F-5938-23A007C57D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6322" y="939054"/>
            <a:ext cx="4784896" cy="49798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119848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2F33242-9559-7DBE-8920-36F6C2F964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1443" y="647312"/>
            <a:ext cx="5649113" cy="5563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60577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8CF404-5945-8BDF-789F-865355A531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DD0921B-EB58-D963-D4E9-5E00B6F878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2835" y="365760"/>
            <a:ext cx="5966329" cy="5982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511404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AB92121-7259-88F6-CEFC-8D2B5D6EB6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2931" y="636091"/>
            <a:ext cx="8828018" cy="53397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608454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93928B-05CD-A097-6831-7B9477BE6C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9611F58-4178-52BD-2E91-C69443F433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5442" y="1190312"/>
            <a:ext cx="7821116" cy="4477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606249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FB091F-EE97-2173-6496-BE69AF3630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E00F9AB-702A-C8F3-2677-4AEC16990E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1247" y="753823"/>
            <a:ext cx="8199997" cy="5350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815004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89F963-6AB7-548B-6854-610C7FEE95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Why AI Sometimes Fails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69FD14-7C00-0A23-E383-3802B7E171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5313" y="1825625"/>
            <a:ext cx="10588487" cy="4843532"/>
          </a:xfrm>
        </p:spPr>
        <p:txBody>
          <a:bodyPr>
            <a:normAutofit/>
          </a:bodyPr>
          <a:lstStyle/>
          <a:p>
            <a:r>
              <a:rPr lang="en-US" dirty="0"/>
              <a:t>Bias </a:t>
            </a:r>
          </a:p>
          <a:p>
            <a:r>
              <a:rPr lang="en-US" dirty="0"/>
              <a:t>Hallucination </a:t>
            </a:r>
          </a:p>
          <a:p>
            <a:r>
              <a:rPr lang="en-US" dirty="0"/>
              <a:t>Outdated knowledge (depending on the model) </a:t>
            </a:r>
          </a:p>
          <a:p>
            <a:r>
              <a:rPr lang="en-US" dirty="0"/>
              <a:t>Lack of common sense </a:t>
            </a:r>
          </a:p>
          <a:p>
            <a:r>
              <a:rPr lang="en-US" dirty="0"/>
              <a:t>Ambiguous prompts </a:t>
            </a:r>
          </a:p>
          <a:p>
            <a:r>
              <a:rPr lang="en-US" dirty="0"/>
              <a:t>No emotions </a:t>
            </a:r>
          </a:p>
          <a:p>
            <a:r>
              <a:rPr lang="en-US" dirty="0"/>
              <a:t>Cannot verify every answer </a:t>
            </a:r>
          </a:p>
          <a:p>
            <a:r>
              <a:rPr lang="en-US" dirty="0"/>
              <a:t>Golden Rule</a:t>
            </a:r>
          </a:p>
          <a:p>
            <a:r>
              <a:rPr lang="en-US" dirty="0"/>
              <a:t>AI should assist human decision-making—not replace it.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4607491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FFA675-5E68-03E2-4201-1171555447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E2865E-02BE-A48F-E52B-F5371D38C8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Evolution of AI Systems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4A7B4F-964C-F797-17BE-509736C6BB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How AI Has Evolved</a:t>
            </a:r>
          </a:p>
          <a:p>
            <a:r>
              <a:rPr lang="en-US" dirty="0"/>
              <a:t>Artificial Intelligence has evolved from </a:t>
            </a:r>
            <a:r>
              <a:rPr lang="en-US" b="1" dirty="0"/>
              <a:t>rule-based systems</a:t>
            </a:r>
            <a:r>
              <a:rPr lang="en-US" dirty="0"/>
              <a:t> to </a:t>
            </a:r>
            <a:r>
              <a:rPr lang="en-US" b="1" dirty="0"/>
              <a:t>autonomous AI agents</a:t>
            </a:r>
            <a:r>
              <a:rPr lang="en-US" dirty="0"/>
              <a:t> capable of reasoning and taking actions.</a:t>
            </a:r>
          </a:p>
          <a:p>
            <a:r>
              <a:rPr lang="en-US" b="1" dirty="0"/>
              <a:t>AI Evolution Journey</a:t>
            </a:r>
          </a:p>
          <a:p>
            <a:r>
              <a:rPr lang="en-US" b="1" dirty="0"/>
              <a:t>Rule-Based Systems → Machine Learning → Deep Learning → Generative AI → Agentic AI</a:t>
            </a:r>
            <a:endParaRPr lang="en-US" dirty="0"/>
          </a:p>
          <a:p>
            <a:r>
              <a:rPr lang="en-US" b="1" dirty="0"/>
              <a:t>Key Message</a:t>
            </a:r>
          </a:p>
          <a:p>
            <a:r>
              <a:rPr lang="en-US" dirty="0"/>
              <a:t>AI has evolved from </a:t>
            </a:r>
            <a:r>
              <a:rPr lang="en-US" b="1" dirty="0"/>
              <a:t>following instructions</a:t>
            </a:r>
            <a:r>
              <a:rPr lang="en-US" dirty="0"/>
              <a:t> to </a:t>
            </a:r>
            <a:r>
              <a:rPr lang="en-US" b="1" dirty="0"/>
              <a:t>learning</a:t>
            </a:r>
            <a:r>
              <a:rPr lang="en-US" dirty="0"/>
              <a:t>, </a:t>
            </a:r>
            <a:r>
              <a:rPr lang="en-US" b="1" dirty="0"/>
              <a:t>creating</a:t>
            </a:r>
            <a:r>
              <a:rPr lang="en-US" dirty="0"/>
              <a:t>, and now </a:t>
            </a:r>
            <a:r>
              <a:rPr lang="en-US" b="1" dirty="0"/>
              <a:t>acting autonomously</a:t>
            </a:r>
            <a:r>
              <a:rPr lang="en-US" dirty="0"/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5344336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9940AF-897F-1B79-C8B9-5E81F79D43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BE12EF-8866-3808-0F76-9C17E0D407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Stage 1: Rule-Based AI (1950s–1990s)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48A224-765A-6D97-02C6-F856A1228A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AI Based on Rules</a:t>
            </a:r>
          </a:p>
          <a:p>
            <a:r>
              <a:rPr lang="en-US" dirty="0"/>
              <a:t>Early AI systems relied on predefined rules written by humans.</a:t>
            </a:r>
          </a:p>
          <a:p>
            <a:r>
              <a:rPr lang="en-US" b="1" dirty="0"/>
              <a:t>How It Works</a:t>
            </a:r>
          </a:p>
          <a:p>
            <a:r>
              <a:rPr lang="en-US" b="1" dirty="0"/>
              <a:t>Input → Rules → Output</a:t>
            </a:r>
            <a:endParaRPr lang="en-US" dirty="0"/>
          </a:p>
          <a:p>
            <a:r>
              <a:rPr lang="en-US" dirty="0"/>
              <a:t>Example:</a:t>
            </a:r>
          </a:p>
          <a:p>
            <a:endParaRPr lang="en-US" dirty="0"/>
          </a:p>
          <a:p>
            <a:r>
              <a:rPr lang="en-US" dirty="0"/>
              <a:t>If balance &lt; ₹500 → Low balance alert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4344248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F559D7-D43C-33FA-05B7-A0A5F269E4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DE1F1F-D272-E067-751C-94062D733B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Stage 1: Rule-Based AI (1950s–1990s)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B25DFC-B778-4AB2-0655-5192D72106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No learning </a:t>
            </a:r>
          </a:p>
          <a:p>
            <a:r>
              <a:rPr lang="en-US" dirty="0"/>
              <a:t>Deterministic </a:t>
            </a:r>
          </a:p>
          <a:p>
            <a:r>
              <a:rPr lang="en-US" dirty="0"/>
              <a:t>Easy to explain </a:t>
            </a:r>
          </a:p>
          <a:p>
            <a:r>
              <a:rPr lang="en-US" dirty="0"/>
              <a:t>Limited flexibility 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Examples</a:t>
            </a:r>
          </a:p>
          <a:p>
            <a:r>
              <a:rPr lang="en-US" dirty="0"/>
              <a:t>Tax calculators </a:t>
            </a:r>
          </a:p>
          <a:p>
            <a:r>
              <a:rPr lang="en-US" dirty="0"/>
              <a:t>Early expert systems </a:t>
            </a:r>
          </a:p>
          <a:p>
            <a:r>
              <a:rPr lang="en-US" dirty="0"/>
              <a:t>Rule-based chatbots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498633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8AA4AC-2ED6-262A-E57B-E11543E657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221A9E-4260-0E8B-B6E3-D7D1BB8765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Stage 2: Machine Learning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9E365C-8144-1DEF-0293-406D961369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/>
              <a:t>Example</a:t>
            </a:r>
          </a:p>
          <a:p>
            <a:r>
              <a:rPr lang="en-US" dirty="0"/>
              <a:t>Rather than coding every fraud rule:</a:t>
            </a:r>
          </a:p>
          <a:p>
            <a:r>
              <a:rPr lang="en-US" dirty="0"/>
              <a:t>Train a model on millions of transactions. </a:t>
            </a:r>
          </a:p>
          <a:p>
            <a:r>
              <a:rPr lang="en-US" dirty="0"/>
              <a:t>The model identifies suspicious patterns. </a:t>
            </a:r>
          </a:p>
          <a:p>
            <a:r>
              <a:rPr lang="en-US" b="1" dirty="0"/>
              <a:t>Applications</a:t>
            </a:r>
          </a:p>
          <a:p>
            <a:r>
              <a:rPr lang="en-US" dirty="0"/>
              <a:t>Spam detection </a:t>
            </a:r>
          </a:p>
          <a:p>
            <a:r>
              <a:rPr lang="en-US" dirty="0"/>
              <a:t>Credit scoring </a:t>
            </a:r>
          </a:p>
          <a:p>
            <a:r>
              <a:rPr lang="en-US" dirty="0"/>
              <a:t>Product recommendations </a:t>
            </a:r>
          </a:p>
          <a:p>
            <a:r>
              <a:rPr lang="en-US" dirty="0"/>
              <a:t>Customer churn prediction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0256737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A04A42-1EF1-2B99-3071-69FC88CBB2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D52E80-91EA-87D8-AE54-E45B3A6574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Stage 3: Deep Learning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1E70C4-3043-8249-F648-8E7E3E4AF4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/>
              <a:t>Learning Complex Patterns</a:t>
            </a:r>
          </a:p>
          <a:p>
            <a:r>
              <a:rPr lang="en-US" dirty="0"/>
              <a:t>Deep Learning uses artificial neural networks inspired by the human brain.</a:t>
            </a:r>
          </a:p>
          <a:p>
            <a:r>
              <a:rPr lang="en-US" b="1" dirty="0"/>
              <a:t>What Changed?</a:t>
            </a:r>
          </a:p>
          <a:p>
            <a:r>
              <a:rPr lang="en-US" dirty="0"/>
              <a:t>AI became much better at:</a:t>
            </a:r>
          </a:p>
          <a:p>
            <a:r>
              <a:rPr lang="en-US" dirty="0"/>
              <a:t>Image recognition </a:t>
            </a:r>
          </a:p>
          <a:p>
            <a:r>
              <a:rPr lang="en-US" dirty="0"/>
              <a:t>Speech recognition </a:t>
            </a:r>
          </a:p>
          <a:p>
            <a:r>
              <a:rPr lang="en-US" dirty="0"/>
              <a:t>Language understanding </a:t>
            </a:r>
          </a:p>
          <a:p>
            <a:r>
              <a:rPr lang="en-US" dirty="0"/>
              <a:t>Video analysis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7416658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732DDD-9415-1192-D9D9-2F287B5DD3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439F71-38DB-5293-9291-344440F3F3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Stage 3: Deep Learning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448CDF-4CBB-B13E-E709-8673C54BF3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b="1" dirty="0"/>
              <a:t>Examples</a:t>
            </a:r>
          </a:p>
          <a:p>
            <a:r>
              <a:rPr lang="en-US" dirty="0"/>
              <a:t>Face recognition </a:t>
            </a:r>
          </a:p>
          <a:p>
            <a:r>
              <a:rPr lang="en-US" dirty="0"/>
              <a:t>Self-driving perception </a:t>
            </a:r>
          </a:p>
          <a:p>
            <a:r>
              <a:rPr lang="en-US" dirty="0"/>
              <a:t>Medical image analysis </a:t>
            </a:r>
          </a:p>
          <a:p>
            <a:r>
              <a:rPr lang="en-US" dirty="0"/>
              <a:t>Voice assistants </a:t>
            </a:r>
          </a:p>
          <a:p>
            <a:r>
              <a:rPr lang="en-US" b="1" dirty="0"/>
              <a:t>Activity</a:t>
            </a:r>
          </a:p>
          <a:p>
            <a:r>
              <a:rPr lang="en-US" dirty="0"/>
              <a:t>Show an image and ask participants:</a:t>
            </a:r>
          </a:p>
          <a:p>
            <a:r>
              <a:rPr lang="en-US" dirty="0"/>
              <a:t>"Can AI identify whether this is a cat or a dog?"</a:t>
            </a:r>
          </a:p>
          <a:p>
            <a:r>
              <a:rPr lang="en-US" dirty="0"/>
              <a:t>Discuss how deep learning learns visual patterns instead of handcrafted rules.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1023683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08A4A6-8D08-FA59-0AE4-8A98DD3865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1731A4-ECC9-40E5-3CEE-0D53ADC4A1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Stage 4: Generative AI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D78A95-6402-13AA-B857-195975BF6C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/>
              <a:t>AI That Creates</a:t>
            </a:r>
          </a:p>
          <a:p>
            <a:r>
              <a:rPr lang="en-US" dirty="0"/>
              <a:t>Generative AI doesn't just analyze data—it creates new content.</a:t>
            </a:r>
          </a:p>
          <a:p>
            <a:r>
              <a:rPr lang="en-US" b="1" dirty="0"/>
              <a:t>It Can Generate</a:t>
            </a:r>
          </a:p>
          <a:p>
            <a:r>
              <a:rPr lang="en-US" dirty="0"/>
              <a:t>Text </a:t>
            </a:r>
          </a:p>
          <a:p>
            <a:r>
              <a:rPr lang="en-US" dirty="0"/>
              <a:t>Images </a:t>
            </a:r>
          </a:p>
          <a:p>
            <a:r>
              <a:rPr lang="en-US" dirty="0"/>
              <a:t>Code </a:t>
            </a:r>
          </a:p>
          <a:p>
            <a:r>
              <a:rPr lang="en-US" dirty="0"/>
              <a:t>Audio </a:t>
            </a:r>
          </a:p>
          <a:p>
            <a:r>
              <a:rPr lang="en-US" dirty="0"/>
              <a:t>Video </a:t>
            </a:r>
          </a:p>
          <a:p>
            <a:r>
              <a:rPr lang="en-US" dirty="0"/>
              <a:t>Presentations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6407302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049142-FFE7-81B7-B0BD-E29F577F39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0A865F-DA5E-0B7B-66FE-E325DCD96B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Stage 4: Generative AI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DB11A5-62B3-97C5-4D38-20E2FE2D2B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lnSpc>
                <a:spcPct val="200000"/>
              </a:lnSpc>
              <a:buNone/>
            </a:pPr>
            <a:r>
              <a:rPr lang="en-US" b="1" dirty="0"/>
              <a:t>Examples</a:t>
            </a:r>
          </a:p>
          <a:p>
            <a:pPr>
              <a:lnSpc>
                <a:spcPct val="200000"/>
              </a:lnSpc>
            </a:pPr>
            <a:r>
              <a:rPr lang="en-US" dirty="0"/>
              <a:t>ChatGPT </a:t>
            </a:r>
          </a:p>
          <a:p>
            <a:pPr>
              <a:lnSpc>
                <a:spcPct val="200000"/>
              </a:lnSpc>
            </a:pPr>
            <a:r>
              <a:rPr lang="en-US" dirty="0"/>
              <a:t>Image generation tools </a:t>
            </a:r>
          </a:p>
          <a:p>
            <a:pPr>
              <a:lnSpc>
                <a:spcPct val="200000"/>
              </a:lnSpc>
            </a:pPr>
            <a:r>
              <a:rPr lang="en-US" dirty="0"/>
              <a:t>AI coding assistants </a:t>
            </a:r>
          </a:p>
          <a:p>
            <a:pPr>
              <a:lnSpc>
                <a:spcPct val="200000"/>
              </a:lnSpc>
            </a:pPr>
            <a:r>
              <a:rPr lang="en-US" dirty="0"/>
              <a:t>AI presentation tools</a:t>
            </a:r>
          </a:p>
          <a:p>
            <a:pPr>
              <a:lnSpc>
                <a:spcPct val="200000"/>
              </a:lnSpc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6104380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1F9BEC-BEAA-6A63-A22C-7A1ACC6122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C6D734-168D-2FC9-7C57-48D9BEBA60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Stage 4: Generative AI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EA5DC0-8ECE-A5DC-4CC7-BB9DA07C5C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Prompt:</a:t>
            </a:r>
          </a:p>
          <a:p>
            <a:r>
              <a:rPr lang="en-US" dirty="0"/>
              <a:t>"Create a professional email requesting leave.“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Change the prompt:</a:t>
            </a:r>
          </a:p>
          <a:p>
            <a:r>
              <a:rPr lang="en-US" dirty="0"/>
              <a:t>"Make it formal."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1156894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4420C9-0C0C-86EB-55C5-4757065398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AE2084-8AA7-A0C9-0991-7520E96D11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Stage 5: Agentic AI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736EBE-6067-B23A-AFCE-3D7C285C20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b="1" dirty="0"/>
              <a:t>AI That Acts</a:t>
            </a:r>
          </a:p>
          <a:p>
            <a:r>
              <a:rPr lang="en-US" dirty="0"/>
              <a:t>Agentic AI moves beyond generating answers.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It can:</a:t>
            </a:r>
          </a:p>
          <a:p>
            <a:r>
              <a:rPr lang="en-US" dirty="0"/>
              <a:t>Plan </a:t>
            </a:r>
          </a:p>
          <a:p>
            <a:r>
              <a:rPr lang="en-US" dirty="0"/>
              <a:t>Reason </a:t>
            </a:r>
          </a:p>
          <a:p>
            <a:r>
              <a:rPr lang="en-US" dirty="0"/>
              <a:t>Use tools </a:t>
            </a:r>
          </a:p>
          <a:p>
            <a:r>
              <a:rPr lang="en-US" dirty="0"/>
              <a:t>Make decisions </a:t>
            </a:r>
          </a:p>
          <a:p>
            <a:r>
              <a:rPr lang="en-US" dirty="0"/>
              <a:t>Complete multi-step tasks </a:t>
            </a:r>
          </a:p>
          <a:p>
            <a:r>
              <a:rPr lang="en-US" dirty="0"/>
              <a:t>Monitor progress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2942148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6ABF7B-7CB0-D4AD-1694-426B51CA00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4A827E-B2C0-9238-3957-FB8C1AD073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Stage 5: Agentic AI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23FD51-D23B-BCE5-A69F-548238ECF1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Organize next week's customer meeting."</a:t>
            </a:r>
          </a:p>
          <a:p>
            <a:r>
              <a:rPr lang="en-US" dirty="0"/>
              <a:t>The AI agent can:</a:t>
            </a:r>
          </a:p>
          <a:p>
            <a:r>
              <a:rPr lang="en-US" dirty="0"/>
              <a:t>Read emails </a:t>
            </a:r>
          </a:p>
          <a:p>
            <a:r>
              <a:rPr lang="en-US" dirty="0"/>
              <a:t>Find available meeting slots </a:t>
            </a:r>
          </a:p>
          <a:p>
            <a:r>
              <a:rPr lang="en-US" dirty="0"/>
              <a:t>Create an agenda </a:t>
            </a:r>
          </a:p>
          <a:p>
            <a:r>
              <a:rPr lang="en-US" dirty="0"/>
              <a:t>Generate presentation slides </a:t>
            </a:r>
          </a:p>
          <a:p>
            <a:r>
              <a:rPr lang="en-US" dirty="0"/>
              <a:t>Send calendar invitations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1821133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ABF00B-2E86-8D43-D338-0DF108CBCF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AI vs ML vs DL vs Generative AI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BCE10C-680F-5681-94BF-01113AED54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6348" y="1825624"/>
            <a:ext cx="10757452" cy="4783897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AI, Machine Learning, Deep Learning, and Generative AI are </a:t>
            </a:r>
            <a:r>
              <a:rPr lang="en-US" b="1" dirty="0"/>
              <a:t>not competing technologies</a:t>
            </a:r>
            <a:r>
              <a:rPr lang="en-US" dirty="0"/>
              <a:t>—they are </a:t>
            </a:r>
            <a:r>
              <a:rPr lang="en-US" b="1" dirty="0"/>
              <a:t>nested technologies</a:t>
            </a:r>
            <a:r>
              <a:rPr lang="en-US" dirty="0"/>
              <a:t>, where each builds upon the previous one.</a:t>
            </a:r>
          </a:p>
          <a:p>
            <a:r>
              <a:rPr lang="en-US" dirty="0"/>
              <a:t>Artificial Intelligence (AI)</a:t>
            </a:r>
          </a:p>
          <a:p>
            <a:pPr marL="0" indent="0">
              <a:buNone/>
            </a:pPr>
            <a:r>
              <a:rPr lang="en-US" dirty="0"/>
              <a:t>│</a:t>
            </a:r>
          </a:p>
          <a:p>
            <a:pPr marL="0" indent="0">
              <a:buNone/>
            </a:pPr>
            <a:r>
              <a:rPr lang="en-US" dirty="0"/>
              <a:t>├── Machine Learning (ML)</a:t>
            </a:r>
          </a:p>
          <a:p>
            <a:pPr marL="0" indent="0">
              <a:buNone/>
            </a:pPr>
            <a:r>
              <a:rPr lang="en-US" dirty="0"/>
              <a:t>│     │</a:t>
            </a:r>
          </a:p>
          <a:p>
            <a:pPr marL="0" indent="0">
              <a:buNone/>
            </a:pPr>
            <a:r>
              <a:rPr lang="en-US" dirty="0"/>
              <a:t>│     └── Deep Learning (DL)</a:t>
            </a:r>
          </a:p>
          <a:p>
            <a:pPr marL="0" indent="0">
              <a:buNone/>
            </a:pPr>
            <a:r>
              <a:rPr lang="en-US" dirty="0"/>
              <a:t>│            │</a:t>
            </a:r>
          </a:p>
          <a:p>
            <a:pPr marL="0" indent="0">
              <a:buNone/>
            </a:pPr>
            <a:r>
              <a:rPr lang="en-US" dirty="0"/>
              <a:t>│            └── Generative AI (GenAI)</a:t>
            </a:r>
          </a:p>
          <a:p>
            <a:r>
              <a:rPr lang="en-US" b="1" dirty="0"/>
              <a:t>Key Message</a:t>
            </a:r>
          </a:p>
          <a:p>
            <a:r>
              <a:rPr lang="en-US" dirty="0"/>
              <a:t>Every Generative AI model uses Deep Learning, every Deep Learning model is a Machine Learning model, and every Machine Learning model is part of Artificial Intelligence.</a:t>
            </a:r>
          </a:p>
        </p:txBody>
      </p:sp>
    </p:spTree>
    <p:extLst>
      <p:ext uri="{BB962C8B-B14F-4D97-AF65-F5344CB8AC3E}">
        <p14:creationId xmlns:p14="http://schemas.microsoft.com/office/powerpoint/2010/main" val="92494699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21077AD-A7D0-7BE5-F3FD-43F5AE3D84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1551" y="483205"/>
            <a:ext cx="8643987" cy="54443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911163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2A1D68-B626-287C-D69F-7A4C85BC88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 Large Language Model (LLM)?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7D173A-F813-D24F-10BE-8A2920659A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5435" y="1825624"/>
            <a:ext cx="10608365" cy="4595053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A </a:t>
            </a:r>
            <a:r>
              <a:rPr lang="en-US" b="1" dirty="0"/>
              <a:t>Large Language Model (LLM)</a:t>
            </a:r>
            <a:r>
              <a:rPr lang="en-US" dirty="0"/>
              <a:t> is an AI model trained on massive amounts of text to understand and generate human language.</a:t>
            </a:r>
          </a:p>
          <a:p>
            <a:r>
              <a:rPr lang="en-US" b="1" dirty="0"/>
              <a:t>What can an LLM do?</a:t>
            </a:r>
          </a:p>
          <a:p>
            <a:r>
              <a:rPr lang="en-US" dirty="0"/>
              <a:t>Answer questions </a:t>
            </a:r>
          </a:p>
          <a:p>
            <a:r>
              <a:rPr lang="en-US" dirty="0"/>
              <a:t>Summarize documents </a:t>
            </a:r>
          </a:p>
          <a:p>
            <a:r>
              <a:rPr lang="en-US" dirty="0"/>
              <a:t>Generate code </a:t>
            </a:r>
          </a:p>
          <a:p>
            <a:r>
              <a:rPr lang="en-US" dirty="0"/>
              <a:t>Translate languages </a:t>
            </a:r>
          </a:p>
          <a:p>
            <a:r>
              <a:rPr lang="en-US" dirty="0"/>
              <a:t>Draft emails </a:t>
            </a:r>
          </a:p>
          <a:p>
            <a:r>
              <a:rPr lang="en-US" dirty="0"/>
              <a:t>Analyze text </a:t>
            </a:r>
          </a:p>
          <a:p>
            <a:r>
              <a:rPr lang="en-US" dirty="0"/>
              <a:t>Create reports </a:t>
            </a:r>
          </a:p>
          <a:p>
            <a:r>
              <a:rPr lang="en-US" dirty="0"/>
              <a:t>Explain concepts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1643886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9DDD4D-2630-8D90-A1A5-674A794BE7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What is a Large Language Model (LLM)?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28C11B-5D5B-3757-FDDB-97B9F42826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 LLM doesn't "know" facts like a human—it predicts the most likely next word (or token) based on patterns learned from vast amounts of text.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1719510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006CD9-AEFB-FFD5-96C9-954CC24396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1964" y="365126"/>
            <a:ext cx="10041835" cy="837510"/>
          </a:xfrm>
        </p:spPr>
        <p:txBody>
          <a:bodyPr/>
          <a:lstStyle/>
          <a:p>
            <a:pPr algn="ctr"/>
            <a:r>
              <a:rPr lang="en-US" b="1" dirty="0"/>
              <a:t>How Does an LLM Learn?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5856E8-F1CB-5727-9E18-06C692B033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71600"/>
            <a:ext cx="10515600" cy="4805363"/>
          </a:xfrm>
        </p:spPr>
        <p:txBody>
          <a:bodyPr>
            <a:normAutofit fontScale="92500" lnSpcReduction="10000"/>
          </a:bodyPr>
          <a:lstStyle/>
          <a:p>
            <a:r>
              <a:rPr lang="en-US" b="1" dirty="0"/>
              <a:t>Learning from Massive Text Data</a:t>
            </a:r>
          </a:p>
          <a:p>
            <a:r>
              <a:rPr lang="en-US" dirty="0"/>
              <a:t>An LLM is trained on billions of words from books, articles, websites, code, and other text sources.</a:t>
            </a:r>
          </a:p>
          <a:p>
            <a:r>
              <a:rPr lang="en-US" b="1" dirty="0"/>
              <a:t>Learning Process</a:t>
            </a:r>
          </a:p>
          <a:p>
            <a:r>
              <a:rPr lang="en-US" dirty="0"/>
              <a:t>Training Data</a:t>
            </a:r>
          </a:p>
          <a:p>
            <a:pPr marL="0" indent="0">
              <a:buNone/>
            </a:pPr>
            <a:r>
              <a:rPr lang="en-US" dirty="0"/>
              <a:t>↓</a:t>
            </a:r>
          </a:p>
          <a:p>
            <a:r>
              <a:rPr lang="en-US" dirty="0"/>
              <a:t>Learns Patterns</a:t>
            </a:r>
          </a:p>
          <a:p>
            <a:pPr marL="0" indent="0">
              <a:buNone/>
            </a:pPr>
            <a:r>
              <a:rPr lang="en-US" dirty="0"/>
              <a:t>↓</a:t>
            </a:r>
          </a:p>
          <a:p>
            <a:r>
              <a:rPr lang="en-US" dirty="0"/>
              <a:t>Understands Context</a:t>
            </a:r>
          </a:p>
          <a:p>
            <a:pPr marL="0" indent="0">
              <a:buNone/>
            </a:pPr>
            <a:r>
              <a:rPr lang="en-US" dirty="0"/>
              <a:t>↓</a:t>
            </a:r>
          </a:p>
          <a:p>
            <a:r>
              <a:rPr lang="en-US" dirty="0"/>
              <a:t>Predicts the Next Word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5081105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D45800-B64C-734A-9252-5FFB6C0483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EAE542-EE79-9668-D14E-E69CDFF133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Tokens: How LLMs Read Text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B5594D-1EB0-C1D6-68FA-F9CF8E02B2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LLMs Read Tokens, Not Sentences</a:t>
            </a:r>
          </a:p>
          <a:p>
            <a:r>
              <a:rPr lang="en-US" dirty="0"/>
              <a:t>A </a:t>
            </a:r>
            <a:r>
              <a:rPr lang="en-US" b="1" dirty="0"/>
              <a:t>token</a:t>
            </a:r>
            <a:r>
              <a:rPr lang="en-US" dirty="0"/>
              <a:t> is a small unit of text.</a:t>
            </a:r>
          </a:p>
          <a:p>
            <a:r>
              <a:rPr lang="en-US" dirty="0"/>
              <a:t>Examples:</a:t>
            </a:r>
          </a:p>
          <a:p>
            <a:r>
              <a:rPr lang="en-US" dirty="0"/>
              <a:t>Sentence:</a:t>
            </a:r>
          </a:p>
          <a:p>
            <a:r>
              <a:rPr lang="en-US" dirty="0"/>
              <a:t>AI is changing healthcare.</a:t>
            </a:r>
          </a:p>
          <a:p>
            <a:r>
              <a:rPr lang="en-US" dirty="0"/>
              <a:t>Possible tokens:</a:t>
            </a:r>
          </a:p>
          <a:p>
            <a:pPr marL="0" indent="0">
              <a:buNone/>
            </a:pPr>
            <a:r>
              <a:rPr lang="en-US" dirty="0"/>
              <a:t>AI                  is                 changing           health           care </a:t>
            </a:r>
          </a:p>
          <a:p>
            <a:pPr marL="0" indent="0">
              <a:buNone/>
            </a:pP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0723392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2A9F40-024C-0D88-24A1-EEF69F9B24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685D1-AD63-C62E-3119-71196AFCB9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/>
              <a:t>Why Tokens Matter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1E2451-050F-6800-0365-C6ECFABFEA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dirty="0"/>
              <a:t>Context window limits </a:t>
            </a:r>
          </a:p>
          <a:p>
            <a:pPr>
              <a:lnSpc>
                <a:spcPct val="150000"/>
              </a:lnSpc>
            </a:pPr>
            <a:r>
              <a:rPr lang="en-US" dirty="0"/>
              <a:t>Cost (API pricing often depends on tokens) </a:t>
            </a:r>
          </a:p>
          <a:p>
            <a:pPr>
              <a:lnSpc>
                <a:spcPct val="150000"/>
              </a:lnSpc>
            </a:pPr>
            <a:r>
              <a:rPr lang="en-US" dirty="0"/>
              <a:t>Response length </a:t>
            </a:r>
          </a:p>
          <a:p>
            <a:pPr>
              <a:lnSpc>
                <a:spcPct val="150000"/>
              </a:lnSpc>
            </a:pPr>
            <a:r>
              <a:rPr lang="en-US" dirty="0"/>
              <a:t>Processing speed</a:t>
            </a:r>
          </a:p>
          <a:p>
            <a:pPr>
              <a:lnSpc>
                <a:spcPct val="150000"/>
              </a:lnSpc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1256215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3BBC87-34FC-974D-29A9-977E62740A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812C94-9DB0-7C5D-C0F7-32F89276B0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How an LLM Generates Responses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1B1E63-7122-F012-FB17-62EC74D1BC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46443" y="1918252"/>
            <a:ext cx="4323522" cy="4731026"/>
          </a:xfrm>
        </p:spPr>
        <p:txBody>
          <a:bodyPr>
            <a:normAutofit/>
          </a:bodyPr>
          <a:lstStyle/>
          <a:p>
            <a:r>
              <a:rPr lang="en-IN" dirty="0"/>
              <a:t>User Prompt</a:t>
            </a:r>
          </a:p>
          <a:p>
            <a:pPr marL="0" indent="0">
              <a:buNone/>
            </a:pPr>
            <a:r>
              <a:rPr lang="en-IN" dirty="0"/>
              <a:t>               ↓</a:t>
            </a:r>
          </a:p>
          <a:p>
            <a:r>
              <a:rPr lang="en-IN" dirty="0"/>
              <a:t>Break into Tokens</a:t>
            </a:r>
          </a:p>
          <a:p>
            <a:pPr marL="0" indent="0">
              <a:buNone/>
            </a:pPr>
            <a:r>
              <a:rPr lang="en-IN" dirty="0"/>
              <a:t>               ↓</a:t>
            </a:r>
          </a:p>
          <a:p>
            <a:r>
              <a:rPr lang="en-IN" dirty="0"/>
              <a:t>Understand Context</a:t>
            </a:r>
          </a:p>
          <a:p>
            <a:pPr marL="0" indent="0">
              <a:buNone/>
            </a:pPr>
            <a:r>
              <a:rPr lang="en-IN" dirty="0"/>
              <a:t>               ↓</a:t>
            </a:r>
          </a:p>
          <a:p>
            <a:r>
              <a:rPr lang="en-IN" dirty="0"/>
              <a:t>Predict Next Token</a:t>
            </a:r>
          </a:p>
          <a:p>
            <a:pPr marL="0" indent="0">
              <a:buNone/>
            </a:pPr>
            <a:r>
              <a:rPr lang="en-IN" dirty="0"/>
              <a:t>               ↓</a:t>
            </a:r>
          </a:p>
          <a:p>
            <a:r>
              <a:rPr lang="en-IN" dirty="0"/>
              <a:t>Generate Response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3260216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747868-59EB-B9C0-9792-E7E52F50DE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B11E69-CF6C-785A-EAC6-2FD7CC1F7D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What Makes Modern LLMs Powerful?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0AA166-2385-6B7A-A4A3-BC65C7314E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dirty="0"/>
              <a:t>Modern LLMs can:</a:t>
            </a:r>
          </a:p>
          <a:p>
            <a:r>
              <a:rPr lang="en-IN" dirty="0"/>
              <a:t>Understand natural language </a:t>
            </a:r>
          </a:p>
          <a:p>
            <a:r>
              <a:rPr lang="en-IN" dirty="0"/>
              <a:t>Follow instructions </a:t>
            </a:r>
          </a:p>
          <a:p>
            <a:r>
              <a:rPr lang="en-IN" dirty="0"/>
              <a:t>Maintain conversation context </a:t>
            </a:r>
          </a:p>
          <a:p>
            <a:r>
              <a:rPr lang="en-IN" dirty="0"/>
              <a:t>Generate code </a:t>
            </a:r>
          </a:p>
          <a:p>
            <a:r>
              <a:rPr lang="en-IN" dirty="0"/>
              <a:t>Summarize long documents </a:t>
            </a:r>
          </a:p>
          <a:p>
            <a:r>
              <a:rPr lang="en-IN" dirty="0"/>
              <a:t>Extract information </a:t>
            </a:r>
          </a:p>
          <a:p>
            <a:r>
              <a:rPr lang="en-IN" dirty="0"/>
              <a:t>Perform reasoning over provided information </a:t>
            </a:r>
          </a:p>
          <a:p>
            <a:r>
              <a:rPr lang="en-IN" dirty="0"/>
              <a:t>Work across multiple languages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8645870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B434AC-D1D0-90E9-0805-E7AC21D0AB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A2CE86-29D6-F78D-E2CC-A3CD402D80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Business Applications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D0FA58-1C47-5504-B34B-D6A76B83AE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Customer support </a:t>
            </a:r>
          </a:p>
          <a:p>
            <a:r>
              <a:rPr lang="en-US" dirty="0"/>
              <a:t>Software development </a:t>
            </a:r>
          </a:p>
          <a:p>
            <a:r>
              <a:rPr lang="en-US" dirty="0"/>
              <a:t>HR </a:t>
            </a:r>
          </a:p>
          <a:p>
            <a:r>
              <a:rPr lang="en-US" dirty="0"/>
              <a:t>Legal document review </a:t>
            </a:r>
          </a:p>
          <a:p>
            <a:r>
              <a:rPr lang="en-US" dirty="0"/>
              <a:t>Finance </a:t>
            </a:r>
          </a:p>
          <a:p>
            <a:r>
              <a:rPr lang="en-US" dirty="0"/>
              <a:t>Healthcare documentation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1576478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52EB49-0C6D-5E34-D109-6839244747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5B0D61-0195-A955-A59E-5713772318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Demonstration: One Model, Many Tasks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74DE13-CEF9-B53A-8431-69DA62875D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9113" y="1590261"/>
            <a:ext cx="10515600" cy="4805363"/>
          </a:xfrm>
        </p:spPr>
        <p:txBody>
          <a:bodyPr>
            <a:normAutofit/>
          </a:bodyPr>
          <a:lstStyle/>
          <a:p>
            <a:r>
              <a:rPr lang="en-US" b="1" dirty="0"/>
              <a:t>Summarization</a:t>
            </a:r>
            <a:endParaRPr lang="en-US" dirty="0"/>
          </a:p>
          <a:p>
            <a:r>
              <a:rPr lang="en-US" dirty="0"/>
              <a:t>Summarize this article in five bullet points.</a:t>
            </a:r>
          </a:p>
          <a:p>
            <a:r>
              <a:rPr lang="en-US" b="1" dirty="0"/>
              <a:t>Translation</a:t>
            </a:r>
            <a:endParaRPr lang="en-US" dirty="0"/>
          </a:p>
          <a:p>
            <a:r>
              <a:rPr lang="en-US" dirty="0"/>
              <a:t>Translate this paragraph into French.</a:t>
            </a:r>
          </a:p>
          <a:p>
            <a:r>
              <a:rPr lang="en-US" b="1" dirty="0"/>
              <a:t>Coding</a:t>
            </a:r>
            <a:endParaRPr lang="en-US" dirty="0"/>
          </a:p>
          <a:p>
            <a:r>
              <a:rPr lang="en-US" dirty="0"/>
              <a:t>Write a Python function to calculate BMI.</a:t>
            </a:r>
          </a:p>
          <a:p>
            <a:r>
              <a:rPr lang="en-US" b="1" dirty="0"/>
              <a:t>Email</a:t>
            </a:r>
            <a:endParaRPr lang="en-US" dirty="0"/>
          </a:p>
          <a:p>
            <a:r>
              <a:rPr lang="en-US" dirty="0"/>
              <a:t>Draft a professional customer apology email.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2680271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C8345D-6E51-1EF4-3698-71149C0BED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A2312A-FB51-2086-03C5-1D894BFAA6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Why Do We Need Transformers?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91E61C-9C41-753C-59B8-6B6C36331F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Before Transformers</a:t>
            </a:r>
          </a:p>
          <a:p>
            <a:r>
              <a:rPr lang="en-US" dirty="0"/>
              <a:t>Older AI models processed text </a:t>
            </a:r>
            <a:r>
              <a:rPr lang="en-US" b="1" dirty="0"/>
              <a:t>one word at a time</a:t>
            </a:r>
            <a:r>
              <a:rPr lang="en-US" dirty="0"/>
              <a:t>.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Example</a:t>
            </a:r>
          </a:p>
          <a:p>
            <a:r>
              <a:rPr lang="en-US" dirty="0"/>
              <a:t>The animal didn't cross the street because </a:t>
            </a:r>
            <a:r>
              <a:rPr lang="en-US" b="1" dirty="0"/>
              <a:t>it</a:t>
            </a:r>
            <a:r>
              <a:rPr lang="en-US" dirty="0"/>
              <a:t> was tired.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2559481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7D8626-10BD-F29F-1076-3BF0D11451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A0900F-D2FF-6707-22A8-5F60F0B26B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/>
              <a:t>Before Transformers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A0DA5B-1EC5-F526-A30A-C1998C0269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Question:</a:t>
            </a:r>
          </a:p>
          <a:p>
            <a:r>
              <a:rPr lang="en-US" b="1" dirty="0"/>
              <a:t>Who is "it"?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Street? </a:t>
            </a:r>
          </a:p>
          <a:p>
            <a:r>
              <a:rPr lang="en-US" dirty="0"/>
              <a:t>Animal? </a:t>
            </a:r>
          </a:p>
          <a:p>
            <a:r>
              <a:rPr lang="en-US" dirty="0"/>
              <a:t>Older models often struggled with long-range context.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3191629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B04D5B-677F-0A16-FE04-6C5380AC7A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551811-D5DA-1989-ECA6-87C6DDB96E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/>
              <a:t>After Transformers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5FC18B-723D-A14A-4668-951CDAFBCF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dirty="0"/>
          </a:p>
          <a:p>
            <a:pPr>
              <a:lnSpc>
                <a:spcPct val="200000"/>
              </a:lnSpc>
            </a:pPr>
            <a:r>
              <a:rPr lang="en-US" dirty="0"/>
              <a:t>Transformers look at </a:t>
            </a:r>
            <a:r>
              <a:rPr lang="en-US" b="1" dirty="0"/>
              <a:t>all the words together</a:t>
            </a:r>
            <a:r>
              <a:rPr lang="en-US" dirty="0"/>
              <a:t>.</a:t>
            </a:r>
          </a:p>
          <a:p>
            <a:pPr>
              <a:lnSpc>
                <a:spcPct val="200000"/>
              </a:lnSpc>
            </a:pPr>
            <a:r>
              <a:rPr lang="en-US" dirty="0"/>
              <a:t>They understand relationships between words.</a:t>
            </a:r>
          </a:p>
          <a:p>
            <a:r>
              <a:rPr lang="en-US" b="1" dirty="0"/>
              <a:t>Animal : </a:t>
            </a:r>
            <a:r>
              <a:rPr lang="en-US" dirty="0"/>
              <a:t>This ability to understand context is what Transformers made possible.</a:t>
            </a:r>
          </a:p>
          <a:p>
            <a:pPr>
              <a:lnSpc>
                <a:spcPct val="200000"/>
              </a:lnSpc>
            </a:pPr>
            <a:endParaRPr lang="en-US" dirty="0"/>
          </a:p>
          <a:p>
            <a:pPr marL="0" indent="0">
              <a:lnSpc>
                <a:spcPct val="200000"/>
              </a:lnSpc>
              <a:buNone/>
            </a:pP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0169354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A62FE2-D37D-B409-BBA2-083FC5DC43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CB36FC-B08E-F3B2-7964-4ECA9C699A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/>
              <a:t>What is a Transformer?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07A013-0A7B-3534-9EAF-DBB0C845A1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61661"/>
            <a:ext cx="10515600" cy="4815302"/>
          </a:xfrm>
        </p:spPr>
        <p:txBody>
          <a:bodyPr>
            <a:normAutofit/>
          </a:bodyPr>
          <a:lstStyle/>
          <a:p>
            <a:r>
              <a:rPr lang="en-US" dirty="0"/>
              <a:t>A Transformer is the deep learning architecture that powers modern Large Language Models like ChatGPT.</a:t>
            </a:r>
          </a:p>
          <a:p>
            <a:r>
              <a:rPr lang="en-US" dirty="0"/>
              <a:t>Instead of reading words one after another,</a:t>
            </a:r>
          </a:p>
          <a:p>
            <a:r>
              <a:rPr lang="en-US" dirty="0"/>
              <a:t>it examines </a:t>
            </a:r>
            <a:r>
              <a:rPr lang="en-US" b="1" dirty="0"/>
              <a:t>the entire sentence simultaneously</a:t>
            </a:r>
            <a:r>
              <a:rPr lang="en-US" dirty="0"/>
              <a:t>.</a:t>
            </a:r>
          </a:p>
          <a:p>
            <a:r>
              <a:rPr lang="en-US" dirty="0"/>
              <a:t>Imagine reading an email.</a:t>
            </a:r>
          </a:p>
          <a:p>
            <a:r>
              <a:rPr lang="en-US" dirty="0"/>
              <a:t>Do you understand one word at a time?</a:t>
            </a:r>
          </a:p>
          <a:p>
            <a:r>
              <a:rPr lang="en-US" dirty="0"/>
              <a:t>No.</a:t>
            </a:r>
          </a:p>
          <a:p>
            <a:r>
              <a:rPr lang="en-US" dirty="0"/>
              <a:t>You understand the entire paragraph together.</a:t>
            </a:r>
          </a:p>
          <a:p>
            <a:r>
              <a:rPr lang="en-US" dirty="0"/>
              <a:t>Transformers work similarly.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0003560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1A35E1-BCB1-C192-5E4C-D5968B5BAB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066C76-5047-E005-BB39-A64227E2BA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Transformers analyze</a:t>
            </a:r>
            <a:br>
              <a:rPr lang="en-US" b="1" dirty="0"/>
            </a:b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5FE96F-D934-FEE2-33F6-8E465A2A81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every word</a:t>
            </a:r>
          </a:p>
          <a:p>
            <a:pPr marL="0" indent="0">
              <a:buNone/>
            </a:pPr>
            <a:r>
              <a:rPr lang="en-US" dirty="0"/>
              <a:t>       ↓</a:t>
            </a:r>
          </a:p>
          <a:p>
            <a:r>
              <a:rPr lang="en-US" dirty="0"/>
              <a:t>relationship</a:t>
            </a:r>
          </a:p>
          <a:p>
            <a:pPr marL="0" indent="0">
              <a:buNone/>
            </a:pPr>
            <a:r>
              <a:rPr lang="en-US" dirty="0"/>
              <a:t>       ↓</a:t>
            </a:r>
          </a:p>
          <a:p>
            <a:r>
              <a:rPr lang="en-US" dirty="0"/>
              <a:t>context</a:t>
            </a:r>
          </a:p>
          <a:p>
            <a:pPr marL="0" indent="0">
              <a:buNone/>
            </a:pPr>
            <a:r>
              <a:rPr lang="en-US" dirty="0"/>
              <a:t>       ↓</a:t>
            </a:r>
          </a:p>
          <a:p>
            <a:r>
              <a:rPr lang="en-US" dirty="0"/>
              <a:t>meaning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4062995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77576D-6005-A5B1-17D8-0903C49654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E9FAC0-A286-5732-5116-40851DDFCD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/>
              <a:t>Tokenization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F9CBFF-AE5A-832B-50E8-1AFF6FA31E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Step 1 – Break into Tokens</a:t>
            </a:r>
          </a:p>
          <a:p>
            <a:r>
              <a:rPr lang="en-US" dirty="0"/>
              <a:t>Step 2 – Convert Words into Numbers</a:t>
            </a:r>
          </a:p>
          <a:p>
            <a:r>
              <a:rPr lang="en-IN" dirty="0"/>
              <a:t>Doctor -&gt; [0.45, 0.89, 0.12...]</a:t>
            </a:r>
          </a:p>
          <a:p>
            <a:r>
              <a:rPr lang="en-IN" dirty="0"/>
              <a:t>Patient -&gt; [0.51, 0.82, 0.18...]</a:t>
            </a:r>
          </a:p>
          <a:p>
            <a:endParaRPr lang="en-IN" dirty="0"/>
          </a:p>
          <a:p>
            <a:r>
              <a:rPr lang="en-US" dirty="0"/>
              <a:t>Words with similar meanings have similar numerical representations.</a:t>
            </a:r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605167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AD2856-6123-2AF3-F083-1C7F096172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F75E98-6E68-D53E-80CB-0BE5B07B6A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/>
              <a:t>Embeddings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37FB13-085D-F283-977E-410254182A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Which words are closer?</a:t>
            </a:r>
          </a:p>
          <a:p>
            <a:r>
              <a:rPr lang="en-US" dirty="0"/>
              <a:t>Doctor                                  Hospital                   Banana</a:t>
            </a:r>
          </a:p>
          <a:p>
            <a:pPr marL="0" indent="0">
              <a:buNone/>
            </a:pPr>
            <a:r>
              <a:rPr lang="en-US" dirty="0"/>
              <a:t>Everyone answers</a:t>
            </a:r>
          </a:p>
          <a:p>
            <a:r>
              <a:rPr lang="en-US" dirty="0"/>
              <a:t>Doctor &amp; Hospital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Embedding captures semantic similarity.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1394296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04B03A-BDD4-40EB-3835-72BBCEEB2F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Attention Mechanism (The Heart of Transformers)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393946-321D-3E5F-963A-59458BEA7E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nurse thanked the doctor because </a:t>
            </a:r>
            <a:r>
              <a:rPr lang="en-US" b="1" dirty="0"/>
              <a:t>she</a:t>
            </a:r>
            <a:r>
              <a:rPr lang="en-US" dirty="0"/>
              <a:t> saved the patient.</a:t>
            </a:r>
          </a:p>
          <a:p>
            <a:endParaRPr lang="en-US" dirty="0"/>
          </a:p>
          <a:p>
            <a:r>
              <a:rPr lang="en-US" dirty="0"/>
              <a:t>Who saved the patient?</a:t>
            </a:r>
          </a:p>
          <a:p>
            <a:r>
              <a:rPr lang="en-US" dirty="0"/>
              <a:t>The model pays </a:t>
            </a:r>
            <a:r>
              <a:rPr lang="en-US" b="1" dirty="0"/>
              <a:t>more attention</a:t>
            </a:r>
            <a:r>
              <a:rPr lang="en-US" dirty="0"/>
              <a:t> to</a:t>
            </a:r>
          </a:p>
          <a:p>
            <a:r>
              <a:rPr lang="en-US" dirty="0"/>
              <a:t>Nurse        Doctor     saved       patient</a:t>
            </a:r>
          </a:p>
          <a:p>
            <a:endParaRPr lang="en-US" dirty="0"/>
          </a:p>
          <a:p>
            <a:r>
              <a:rPr lang="en-US" dirty="0"/>
              <a:t>It determines that </a:t>
            </a:r>
            <a:r>
              <a:rPr lang="en-US" b="1" dirty="0"/>
              <a:t>she</a:t>
            </a:r>
            <a:r>
              <a:rPr lang="en-US" dirty="0"/>
              <a:t> most likely refers to the </a:t>
            </a:r>
            <a:r>
              <a:rPr lang="en-US" b="1" dirty="0"/>
              <a:t>nurse</a:t>
            </a:r>
            <a:r>
              <a:rPr lang="en-US" dirty="0"/>
              <a:t> based on the sentence structure.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695461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F1870C-0188-9315-1E4A-082DE425FC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EA44C0-13CD-47AB-DDB0-A7EF058863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/>
              <a:t>Multi-Head Attention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55FD9F-EE1E-A14C-E99F-6D8001E486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1113"/>
            <a:ext cx="10515600" cy="4725850"/>
          </a:xfrm>
        </p:spPr>
        <p:txBody>
          <a:bodyPr>
            <a:normAutofit/>
          </a:bodyPr>
          <a:lstStyle/>
          <a:p>
            <a:r>
              <a:rPr lang="en-US" dirty="0"/>
              <a:t>Imagine five employees reviewing the same email.</a:t>
            </a:r>
          </a:p>
          <a:p>
            <a:r>
              <a:rPr lang="en-US" dirty="0"/>
              <a:t>One checks:         Grammar</a:t>
            </a:r>
          </a:p>
          <a:p>
            <a:r>
              <a:rPr lang="en-US" dirty="0"/>
              <a:t>Second checks:    Meaning</a:t>
            </a:r>
          </a:p>
          <a:p>
            <a:r>
              <a:rPr lang="en-US" dirty="0"/>
              <a:t>Third checks:        Tone</a:t>
            </a:r>
          </a:p>
          <a:p>
            <a:r>
              <a:rPr lang="en-US" dirty="0"/>
              <a:t>Fourth checks:      Facts</a:t>
            </a:r>
          </a:p>
          <a:p>
            <a:r>
              <a:rPr lang="en-US" dirty="0"/>
              <a:t>Fifth checks:          Intent      </a:t>
            </a:r>
          </a:p>
          <a:p>
            <a:r>
              <a:rPr lang="en-US" dirty="0"/>
              <a:t>Each notices something different.</a:t>
            </a:r>
          </a:p>
          <a:p>
            <a:r>
              <a:rPr lang="en-US" dirty="0"/>
              <a:t>Transformers do something similar using </a:t>
            </a:r>
            <a:r>
              <a:rPr lang="en-US" b="1" dirty="0"/>
              <a:t>multiple attention heads</a:t>
            </a:r>
            <a:r>
              <a:rPr lang="en-US" dirty="0"/>
              <a:t>, each focusing on different relationships within the sentence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98974630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19C1E4-9B8E-BB06-E1B3-D3778A4BB4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C9C2FA-F866-F799-0D7F-772A790618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How foundation models generate responses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0B28B9-5FC8-D210-2A1A-D4CC2D497E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5861" y="1451113"/>
            <a:ext cx="10677939" cy="472585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A </a:t>
            </a:r>
            <a:r>
              <a:rPr lang="en-US" b="1" dirty="0"/>
              <a:t>Foundation Model</a:t>
            </a:r>
            <a:r>
              <a:rPr lang="en-US" dirty="0"/>
              <a:t> is a large AI model trained on vast amounts of data that can be adapted to perform many different tasks without being trained separately for each one.</a:t>
            </a:r>
          </a:p>
          <a:p>
            <a:endParaRPr lang="en-US" dirty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GPT models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Llama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Gemini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Claude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Mistral </a:t>
            </a:r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62803432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487495-5A1E-7F52-F156-CEE8881236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B5C141-67F9-25FF-4045-71086F5040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/>
              <a:t>Privacy &amp; Data Security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113B64-7C6C-F11A-67CE-3D59501D79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61052"/>
            <a:ext cx="10515600" cy="4715911"/>
          </a:xfrm>
        </p:spPr>
        <p:txBody>
          <a:bodyPr>
            <a:normAutofit/>
          </a:bodyPr>
          <a:lstStyle/>
          <a:p>
            <a:r>
              <a:rPr lang="en-IN" b="1" dirty="0"/>
              <a:t>Never Share Sensitive Information</a:t>
            </a:r>
          </a:p>
          <a:p>
            <a:r>
              <a:rPr lang="en-IN" dirty="0"/>
              <a:t>Avoid entering into public AI tools:</a:t>
            </a:r>
          </a:p>
          <a:p>
            <a:r>
              <a:rPr lang="en-IN" dirty="0"/>
              <a:t>Customer data </a:t>
            </a:r>
          </a:p>
          <a:p>
            <a:r>
              <a:rPr lang="en-IN" dirty="0"/>
              <a:t>Patient records </a:t>
            </a:r>
          </a:p>
          <a:p>
            <a:r>
              <a:rPr lang="en-IN" dirty="0"/>
              <a:t>Source code </a:t>
            </a:r>
          </a:p>
          <a:p>
            <a:r>
              <a:rPr lang="en-IN" dirty="0"/>
              <a:t>Financial reports </a:t>
            </a:r>
          </a:p>
          <a:p>
            <a:r>
              <a:rPr lang="en-IN" dirty="0"/>
              <a:t>Passwords </a:t>
            </a:r>
          </a:p>
          <a:p>
            <a:r>
              <a:rPr lang="en-IN" dirty="0"/>
              <a:t>Confidential business strategies </a:t>
            </a:r>
          </a:p>
          <a:p>
            <a:r>
              <a:rPr lang="en-IN" dirty="0"/>
              <a:t>Personally Identifiable Information (PII)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81059786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F4806F-D3DB-136A-CA12-56FD580945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34D9C2-4092-7BF7-7CED-3AAEED1DFF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/>
              <a:t>Ethical Concerns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57D9DD-26E1-6B30-6182-4D8C587A2D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02635"/>
            <a:ext cx="10515600" cy="4974328"/>
          </a:xfrm>
        </p:spPr>
        <p:txBody>
          <a:bodyPr>
            <a:normAutofit/>
          </a:bodyPr>
          <a:lstStyle/>
          <a:p>
            <a:endParaRPr lang="en-US" dirty="0"/>
          </a:p>
          <a:p>
            <a:endParaRPr lang="en-US" dirty="0"/>
          </a:p>
          <a:p>
            <a:r>
              <a:rPr lang="en-US" dirty="0"/>
              <a:t>If an AI system rejects a loan application, who should be accountable?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AI? </a:t>
            </a:r>
          </a:p>
          <a:p>
            <a:r>
              <a:rPr lang="en-US" dirty="0"/>
              <a:t>Developer? </a:t>
            </a:r>
          </a:p>
          <a:p>
            <a:r>
              <a:rPr lang="en-US" dirty="0"/>
              <a:t>Organization? </a:t>
            </a:r>
          </a:p>
          <a:p>
            <a:r>
              <a:rPr lang="en-US" dirty="0"/>
              <a:t>Human reviewer?</a:t>
            </a:r>
          </a:p>
        </p:txBody>
      </p:sp>
    </p:spTree>
    <p:extLst>
      <p:ext uri="{BB962C8B-B14F-4D97-AF65-F5344CB8AC3E}">
        <p14:creationId xmlns:p14="http://schemas.microsoft.com/office/powerpoint/2010/main" val="2583280386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24F7D0-A0FC-51B7-9921-BB34AFB303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D02D8A-DC9E-7560-3FAD-82584580D0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Prompt Injection &amp; Misinformation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862F82-F383-A56A-F9CD-1A80B1663C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AI Can Be Manipulated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Prompt injection attacks </a:t>
            </a:r>
          </a:p>
          <a:p>
            <a:r>
              <a:rPr lang="en-US" dirty="0"/>
              <a:t>Fake documents </a:t>
            </a:r>
          </a:p>
          <a:p>
            <a:r>
              <a:rPr lang="en-US" dirty="0"/>
              <a:t>Misleading instructions </a:t>
            </a:r>
          </a:p>
          <a:p>
            <a:r>
              <a:rPr lang="en-US" dirty="0"/>
              <a:t>Fabricated references </a:t>
            </a:r>
          </a:p>
          <a:p>
            <a:r>
              <a:rPr lang="en-US" dirty="0"/>
              <a:t>Social engineering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98502099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43A287-925F-6252-7608-566F685AE5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AI Must Be Powerful and Trustworthy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FF9F99-B3A8-95E5-2228-07756FA6FD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goal is not just to build AI—but to build AI that people can trust.</a:t>
            </a:r>
          </a:p>
          <a:p>
            <a:endParaRPr lang="en-US" b="1" dirty="0"/>
          </a:p>
          <a:p>
            <a:r>
              <a:rPr lang="en-US" dirty="0"/>
              <a:t>Fair </a:t>
            </a:r>
          </a:p>
          <a:p>
            <a:r>
              <a:rPr lang="en-US" dirty="0"/>
              <a:t>Transparent </a:t>
            </a:r>
          </a:p>
          <a:p>
            <a:r>
              <a:rPr lang="en-US" dirty="0"/>
              <a:t>Secure </a:t>
            </a:r>
          </a:p>
          <a:p>
            <a:r>
              <a:rPr lang="en-US" dirty="0"/>
              <a:t>Reliable </a:t>
            </a:r>
          </a:p>
          <a:p>
            <a:r>
              <a:rPr lang="en-US" dirty="0"/>
              <a:t>Accountable </a:t>
            </a:r>
          </a:p>
          <a:p>
            <a:r>
              <a:rPr lang="en-US" dirty="0"/>
              <a:t>Privacy-preserving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29966415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4C7E05-D765-79A2-A787-949E5588EA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What is Responsible AI?</a:t>
            </a:r>
            <a:br>
              <a:rPr lang="en-US" b="1" dirty="0"/>
            </a:b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A252B5-4662-72F5-719C-67CE9C1985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dirty="0"/>
              <a:t>Responsible AI is the practice of </a:t>
            </a:r>
            <a:r>
              <a:rPr lang="en-US" b="1" dirty="0"/>
              <a:t>designing, developing, deploying, and using AI systems in a safe, ethical, and trustworthy manner</a:t>
            </a:r>
            <a:r>
              <a:rPr lang="en-US" dirty="0"/>
              <a:t>.</a:t>
            </a:r>
          </a:p>
          <a:p>
            <a:pPr>
              <a:lnSpc>
                <a:spcPct val="150000"/>
              </a:lnSpc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15837339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0732448-26DD-C62C-29F0-96855EC24B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0047" y="1872176"/>
            <a:ext cx="9795771" cy="24414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791334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E42887B-0204-BBE2-4E73-AF448F0586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4783" y="537886"/>
            <a:ext cx="8093555" cy="5426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95455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A8A24A-A60F-8F4A-C5BB-B09DBD7DE8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6395108-C73E-596B-E29B-DFEFFE4EB1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9313" y="655917"/>
            <a:ext cx="8270637" cy="47509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5899156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EC8878-1041-BADA-817C-BA804A9CF0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279C23C-FFC5-F224-6067-0B968EF27A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5752" y="434336"/>
            <a:ext cx="8043257" cy="55157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8287189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935602-9FE7-E88D-ACB9-A1CF587C35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29C989E-BBF3-E441-D89E-4BA55EE9AC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2629" y="496193"/>
            <a:ext cx="8116197" cy="58803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3717896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F71396-CFBD-4F57-20AD-77086279DE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19966CD-EFE0-133E-390B-7E3690D4CD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3087" y="652583"/>
            <a:ext cx="8573365" cy="55764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4461594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A2EC94-3194-785C-1A86-2BF3F755D3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D185227-A331-DBE0-D58D-75C4F5ACDA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9189" y="317987"/>
            <a:ext cx="9085437" cy="54888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1800103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D1C186-2356-D223-B7A8-169E580BB0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CA0EF34-7403-050E-C7F6-0291944874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3973" y="355870"/>
            <a:ext cx="7996617" cy="49715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9844350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4539C0-5DE5-3359-45ED-325B440CCE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What is Prompt Engineering?</a:t>
            </a:r>
            <a:br>
              <a:rPr lang="en-US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13F744-3A73-5388-0293-FE9F169306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The practice of designing and refining prompts to optimize AI-generated responses.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Helps in guiding AI models like GPT-4 to produce relevant, accurate, and high-quality outputs.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Involves techniques like using clear instructions, providing context, and specifying output formats.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Used in applications such as chatbots, content generation, and decision-making systems.</a:t>
            </a:r>
          </a:p>
          <a:p>
            <a:pPr>
              <a:lnSpc>
                <a:spcPct val="150000"/>
              </a:lnSpc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4698718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538426-77AF-16B9-7358-D40D6ECB72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Methods of Prompt Engineering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88E557-9429-C57B-2E28-A14B7C7D29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2148" y="1461052"/>
            <a:ext cx="10222464" cy="445017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400" b="1" dirty="0"/>
              <a:t>Zero-shot Prompting</a:t>
            </a:r>
            <a:endParaRPr lang="en-US" sz="24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Directly asking the model a question without examples.</a:t>
            </a:r>
          </a:p>
          <a:p>
            <a:pPr marL="0" indent="0">
              <a:buNone/>
            </a:pPr>
            <a:endParaRPr lang="en-US" sz="24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400" i="1" dirty="0"/>
              <a:t>Explain machine learning in simple terms.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400" i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What are the key factors affecting stock market prices?</a:t>
            </a:r>
          </a:p>
          <a:p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3741187918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F5D046-A249-99CE-035C-BED7A2C587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Methods of Prompt Engineering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938A06-4D3E-2D30-B885-79078C6A8B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2270" y="1709530"/>
            <a:ext cx="10242342" cy="4201692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400" b="1" dirty="0"/>
              <a:t>One-shot Prompting</a:t>
            </a:r>
            <a:endParaRPr lang="en-US" sz="24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Providing a single example to guide the AI’s response.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Example: </a:t>
            </a:r>
            <a:r>
              <a:rPr lang="en-US" sz="2400" i="1" dirty="0"/>
              <a:t>“Translate ‘Hello’ to French: Bonjour. Now translate ‘Goodbye’.”</a:t>
            </a:r>
            <a:endParaRPr lang="en-US" sz="2400" dirty="0"/>
          </a:p>
          <a:p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3135250898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D5CB62-74F2-5AF4-59C1-33F940CC74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6B7CBB-96CC-780B-1DE3-3975B9B908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Methods of Prompt Engineering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65E0A1-5BE4-89DC-A7BF-42E6951675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>
              <a:buNone/>
            </a:pPr>
            <a:r>
              <a:rPr lang="en-US" b="1" dirty="0"/>
              <a:t>One-shot Prompting:</a:t>
            </a:r>
          </a:p>
          <a:p>
            <a:pPr>
              <a:buNone/>
            </a:pPr>
            <a:endParaRPr lang="en-US" b="1" dirty="0"/>
          </a:p>
          <a:p>
            <a:pPr>
              <a:buNone/>
            </a:pPr>
            <a:r>
              <a:rPr lang="en-US" i="1" dirty="0"/>
              <a:t>If a person with a credit score of 750 and an income of $80,000 is approved for a loan, what about a person with a credit score of 680 and an income of $50,000?</a:t>
            </a:r>
            <a:endParaRPr lang="en-US" b="1" i="1" dirty="0"/>
          </a:p>
          <a:p>
            <a:pPr>
              <a:buNone/>
            </a:pPr>
            <a:endParaRPr lang="en-US" b="1" dirty="0"/>
          </a:p>
          <a:p>
            <a:pPr>
              <a:buNone/>
            </a:pPr>
            <a:r>
              <a:rPr lang="en-US" b="1" dirty="0"/>
              <a:t>Few-shot Prompting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i="1" dirty="0"/>
              <a:t>A person with a credit score of </a:t>
            </a:r>
            <a:r>
              <a:rPr lang="en-US" b="1" i="1" dirty="0"/>
              <a:t>750</a:t>
            </a:r>
            <a:r>
              <a:rPr lang="en-US" i="1" dirty="0"/>
              <a:t> and income of </a:t>
            </a:r>
            <a:r>
              <a:rPr lang="en-US" b="1" i="1" dirty="0"/>
              <a:t>$80,000</a:t>
            </a:r>
            <a:r>
              <a:rPr lang="en-US" i="1" dirty="0"/>
              <a:t> was </a:t>
            </a:r>
            <a:r>
              <a:rPr lang="en-US" b="1" i="1" dirty="0"/>
              <a:t>approved</a:t>
            </a:r>
            <a:r>
              <a:rPr lang="en-US" i="1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i="1" dirty="0"/>
              <a:t>A person with a credit score of </a:t>
            </a:r>
            <a:r>
              <a:rPr lang="en-US" b="1" i="1" dirty="0"/>
              <a:t>600</a:t>
            </a:r>
            <a:r>
              <a:rPr lang="en-US" i="1" dirty="0"/>
              <a:t> and income of </a:t>
            </a:r>
            <a:r>
              <a:rPr lang="en-US" b="1" i="1" dirty="0"/>
              <a:t>$40,000</a:t>
            </a:r>
            <a:r>
              <a:rPr lang="en-US" i="1" dirty="0"/>
              <a:t> was </a:t>
            </a:r>
            <a:r>
              <a:rPr lang="en-US" b="1" i="1" dirty="0"/>
              <a:t>denied</a:t>
            </a:r>
            <a:r>
              <a:rPr lang="en-US" i="1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i="1" dirty="0"/>
              <a:t>A person with a credit score of </a:t>
            </a:r>
            <a:r>
              <a:rPr lang="en-US" b="1" i="1" dirty="0"/>
              <a:t>720</a:t>
            </a:r>
            <a:r>
              <a:rPr lang="en-US" i="1" dirty="0"/>
              <a:t> and income of </a:t>
            </a:r>
            <a:r>
              <a:rPr lang="en-US" b="1" i="1" dirty="0"/>
              <a:t>$70,000</a:t>
            </a:r>
            <a:r>
              <a:rPr lang="en-US" i="1" dirty="0"/>
              <a:t> was </a:t>
            </a:r>
            <a:r>
              <a:rPr lang="en-US" b="1" i="1" dirty="0"/>
              <a:t>approved</a:t>
            </a:r>
            <a:r>
              <a:rPr lang="en-US" i="1" dirty="0"/>
              <a:t>.</a:t>
            </a:r>
          </a:p>
          <a:p>
            <a:r>
              <a:rPr lang="en-US" i="1" dirty="0"/>
              <a:t>Now, predict the loan decision for a person with a credit score of </a:t>
            </a:r>
            <a:r>
              <a:rPr lang="en-US" b="1" i="1" dirty="0"/>
              <a:t>680</a:t>
            </a:r>
            <a:r>
              <a:rPr lang="en-US" i="1" dirty="0"/>
              <a:t> and an income of </a:t>
            </a:r>
            <a:r>
              <a:rPr lang="en-US" b="1" i="1" dirty="0"/>
              <a:t>$50,000</a:t>
            </a:r>
            <a:r>
              <a:rPr lang="en-US" i="1" dirty="0"/>
              <a:t>."*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71224444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8A6160-0A71-851C-D032-FAF4B97A48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9DBE08-65AA-62C3-8E9F-6201E5F79C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Methods of Prompt Engineering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A4FF15-F16D-7E84-840B-B03084C4BC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0" y="1500809"/>
            <a:ext cx="10361612" cy="4410413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2400" b="1" dirty="0"/>
              <a:t>Chain-of-Thought (</a:t>
            </a:r>
            <a:r>
              <a:rPr lang="en-US" sz="2400" b="1" dirty="0" err="1"/>
              <a:t>CoT</a:t>
            </a:r>
            <a:r>
              <a:rPr lang="en-US" sz="2400" b="1" dirty="0"/>
              <a:t>) Prompting</a:t>
            </a:r>
            <a:endParaRPr lang="en-US" sz="24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Encouraging step-by-step reasoning for complex problems.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Example: </a:t>
            </a:r>
            <a:r>
              <a:rPr lang="en-US" sz="2400" i="1" dirty="0"/>
              <a:t>“Solve 24 × 3 + 12. First, multiply 24 by 3, then add 12.”</a:t>
            </a:r>
            <a:endParaRPr lang="en-US" sz="2400" dirty="0"/>
          </a:p>
          <a:p>
            <a:endParaRPr lang="en-IN" sz="2400" dirty="0"/>
          </a:p>
          <a:p>
            <a:r>
              <a:rPr lang="en-US" sz="2400" dirty="0"/>
              <a:t>An investor is considering buying stocks in Company A. The company's revenue is growing at </a:t>
            </a:r>
            <a:r>
              <a:rPr lang="en-US" sz="2400" b="1" dirty="0"/>
              <a:t>10% per year</a:t>
            </a:r>
            <a:r>
              <a:rPr lang="en-US" sz="2400" dirty="0"/>
              <a:t>, and it has a </a:t>
            </a:r>
            <a:r>
              <a:rPr lang="en-US" sz="2400" b="1" dirty="0"/>
              <a:t>P/E ratio of 25</a:t>
            </a:r>
            <a:r>
              <a:rPr lang="en-US" sz="2400" dirty="0"/>
              <a:t>. Interest rates are expected to rise next year. Should the investor buy the stock? Explain step by step.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2336500431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445A70-849D-20AF-DAAC-8F0F810591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D7312E-A418-A85A-0719-1DE4406120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Methods of Prompt Engineering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2CAEF8-9797-B45A-77A4-4144E23A70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90870" y="1610139"/>
            <a:ext cx="10013742" cy="4301083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400" b="1" dirty="0"/>
              <a:t>Role-based Prompting</a:t>
            </a:r>
            <a:endParaRPr lang="en-US" sz="24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Assigning a specific role to the AI for better responses.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Example: </a:t>
            </a:r>
            <a:r>
              <a:rPr lang="en-US" sz="2400" i="1" dirty="0"/>
              <a:t>“You are a customer support agent. Answer the query professionally.”</a:t>
            </a:r>
            <a:endParaRPr lang="en-US" sz="2400" dirty="0"/>
          </a:p>
          <a:p>
            <a:endParaRPr lang="en-IN" sz="2400" dirty="0"/>
          </a:p>
          <a:p>
            <a:r>
              <a:rPr lang="en-US" sz="2400" dirty="0"/>
              <a:t>You are a seasoned financial advisor. A client wants to invest ₹10 lakhs and is looking for low-risk options. Provide a step-by-step investment strategy.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1420367895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93251A-A003-99C4-B4D4-7807E9BB41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1EED02-2C7D-44DB-800E-BC601B33F9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Methods of Prompt Engineering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32BB2C-0566-9B8C-6E7B-72B71C3D69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72817" y="1798983"/>
            <a:ext cx="10331795" cy="4112239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400" b="1" dirty="0"/>
              <a:t>Persona-based Prompting</a:t>
            </a:r>
            <a:endParaRPr lang="en-US" sz="24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Making the AI respond in a particular style or tone.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Example: </a:t>
            </a:r>
            <a:r>
              <a:rPr lang="en-US" sz="2400" i="1" dirty="0"/>
              <a:t>“Explain quantum physics as if you were a 5-year-old.”</a:t>
            </a:r>
            <a:endParaRPr lang="en-US" sz="2400" dirty="0"/>
          </a:p>
          <a:p>
            <a:endParaRPr lang="en-IN" sz="2400" dirty="0"/>
          </a:p>
          <a:p>
            <a:r>
              <a:rPr lang="en-US" sz="2400" dirty="0"/>
              <a:t>You are the CFO of a multinational company. Your board is considering expanding into India. Analyze the financial risks and opportunities.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3590557213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5EC85C-8B12-C353-59B9-7049038205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141EFD-2A4D-4847-813E-363C503F2A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Methods of Prompt Engineering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F80D92-71D0-EF52-B06B-8B406EE00B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5725" y="1805609"/>
            <a:ext cx="8915400" cy="3777622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400" b="1" dirty="0"/>
              <a:t>Refinement and Iterative Prompting</a:t>
            </a:r>
            <a:endParaRPr lang="en-US" sz="24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Adjusting prompts based on initial responses for better results.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Example: </a:t>
            </a:r>
            <a:r>
              <a:rPr lang="en-US" sz="2400" i="1" dirty="0"/>
              <a:t>If the response is too vague, rephrase with more details.</a:t>
            </a:r>
            <a:endParaRPr lang="en-US" sz="2400" dirty="0"/>
          </a:p>
          <a:p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1120075459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A4BFB0-B8E3-2418-173E-2BDA227AF6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B1937FA-44C1-C2A5-C680-30391063B9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9912" y="543666"/>
            <a:ext cx="8110131" cy="56579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1481487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A9278E-BA08-1DA1-AB4B-35ACCE2EC2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17D4728-238B-4868-C4F4-3AE8DF6F56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7206" y="624607"/>
            <a:ext cx="7933323" cy="55875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1417329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3475F8-8E08-0CC7-B35A-217940522A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9451F51-49BC-3857-B706-2A50D22A03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2264" y="403280"/>
            <a:ext cx="9301520" cy="5470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20245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Violet II">
      <a:dk1>
        <a:sysClr val="windowText" lastClr="000000"/>
      </a:dk1>
      <a:lt1>
        <a:sysClr val="window" lastClr="FFFFFF"/>
      </a:lt1>
      <a:dk2>
        <a:srgbClr val="632E62"/>
      </a:dk2>
      <a:lt2>
        <a:srgbClr val="EAE5EB"/>
      </a:lt2>
      <a:accent1>
        <a:srgbClr val="92278F"/>
      </a:accent1>
      <a:accent2>
        <a:srgbClr val="9B57D3"/>
      </a:accent2>
      <a:accent3>
        <a:srgbClr val="755DD9"/>
      </a:accent3>
      <a:accent4>
        <a:srgbClr val="665EB8"/>
      </a:accent4>
      <a:accent5>
        <a:srgbClr val="45A5ED"/>
      </a:accent5>
      <a:accent6>
        <a:srgbClr val="5982DB"/>
      </a:accent6>
      <a:hlink>
        <a:srgbClr val="0066FF"/>
      </a:hlink>
      <a:folHlink>
        <a:srgbClr val="666699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F46216B-77A9-411A-B9D3-5023FCB7020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108</TotalTime>
  <Words>2092</Words>
  <Application>Microsoft Office PowerPoint</Application>
  <PresentationFormat>Widescreen</PresentationFormat>
  <Paragraphs>413</Paragraphs>
  <Slides>75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75</vt:i4>
      </vt:variant>
    </vt:vector>
  </HeadingPairs>
  <TitlesOfParts>
    <vt:vector size="81" baseType="lpstr">
      <vt:lpstr>-apple-system</vt:lpstr>
      <vt:lpstr>Aptos</vt:lpstr>
      <vt:lpstr>Arial</vt:lpstr>
      <vt:lpstr>Calibri</vt:lpstr>
      <vt:lpstr>Calibri Light</vt:lpstr>
      <vt:lpstr>Office Theme</vt:lpstr>
      <vt:lpstr>Claude Code for AI-assisted Software Development                                     Premalatha T  </vt:lpstr>
      <vt:lpstr>WHO  AM I?</vt:lpstr>
      <vt:lpstr>What is Artificial Intelligence?</vt:lpstr>
      <vt:lpstr>Tasks </vt:lpstr>
      <vt:lpstr>AI Around Us</vt:lpstr>
      <vt:lpstr>How many AI applications have you already used before reaching office today</vt:lpstr>
      <vt:lpstr>AI is Like a Student</vt:lpstr>
      <vt:lpstr>AI is Like a Student</vt:lpstr>
      <vt:lpstr>Activity</vt:lpstr>
      <vt:lpstr>Create an image of a man  writing with Left hand</vt:lpstr>
      <vt:lpstr>Image Generation</vt:lpstr>
      <vt:lpstr>According to our communication sofar, Which hindi movie character do you relate me with? Justify.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Why AI Sometimes Fails</vt:lpstr>
      <vt:lpstr>Evolution of AI Systems</vt:lpstr>
      <vt:lpstr>Stage 1: Rule-Based AI (1950s–1990s)</vt:lpstr>
      <vt:lpstr>Stage 1: Rule-Based AI (1950s–1990s)</vt:lpstr>
      <vt:lpstr>Stage 2: Machine Learning</vt:lpstr>
      <vt:lpstr>Stage 3: Deep Learning</vt:lpstr>
      <vt:lpstr>Stage 3: Deep Learning</vt:lpstr>
      <vt:lpstr>Stage 4: Generative AI</vt:lpstr>
      <vt:lpstr>Stage 4: Generative AI</vt:lpstr>
      <vt:lpstr>Stage 4: Generative AI</vt:lpstr>
      <vt:lpstr>Stage 5: Agentic AI</vt:lpstr>
      <vt:lpstr>Stage 5: Agentic AI</vt:lpstr>
      <vt:lpstr>AI vs ML vs DL vs Generative AI</vt:lpstr>
      <vt:lpstr>PowerPoint Presentation</vt:lpstr>
      <vt:lpstr>What is a Large Language Model (LLM)?</vt:lpstr>
      <vt:lpstr>What is a Large Language Model (LLM)?</vt:lpstr>
      <vt:lpstr>How Does an LLM Learn?</vt:lpstr>
      <vt:lpstr>Tokens: How LLMs Read Text</vt:lpstr>
      <vt:lpstr>Why Tokens Matter</vt:lpstr>
      <vt:lpstr>How an LLM Generates Responses</vt:lpstr>
      <vt:lpstr>What Makes Modern LLMs Powerful?</vt:lpstr>
      <vt:lpstr>Business Applications </vt:lpstr>
      <vt:lpstr>Demonstration: One Model, Many Tasks</vt:lpstr>
      <vt:lpstr>Why Do We Need Transformers?</vt:lpstr>
      <vt:lpstr>Before Transformers</vt:lpstr>
      <vt:lpstr>After Transformers</vt:lpstr>
      <vt:lpstr>What is a Transformer?</vt:lpstr>
      <vt:lpstr>Transformers analyze </vt:lpstr>
      <vt:lpstr>Tokenization</vt:lpstr>
      <vt:lpstr>Embeddings</vt:lpstr>
      <vt:lpstr>Attention Mechanism (The Heart of Transformers)</vt:lpstr>
      <vt:lpstr>Multi-Head Attention</vt:lpstr>
      <vt:lpstr>How foundation models generate responses</vt:lpstr>
      <vt:lpstr>Privacy &amp; Data Security</vt:lpstr>
      <vt:lpstr>Ethical Concerns</vt:lpstr>
      <vt:lpstr>Prompt Injection &amp; Misinformation</vt:lpstr>
      <vt:lpstr>AI Must Be Powerful and Trustworthy</vt:lpstr>
      <vt:lpstr>What is Responsible AI?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What is Prompt Engineering? </vt:lpstr>
      <vt:lpstr>Methods of Prompt Engineering</vt:lpstr>
      <vt:lpstr>Methods of Prompt Engineering</vt:lpstr>
      <vt:lpstr>Methods of Prompt Engineering</vt:lpstr>
      <vt:lpstr>Methods of Prompt Engineering</vt:lpstr>
      <vt:lpstr>Methods of Prompt Engineering</vt:lpstr>
      <vt:lpstr>Methods of Prompt Engineering</vt:lpstr>
      <vt:lpstr>Methods of Prompt Engineering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Latha T K</dc:creator>
  <cp:lastModifiedBy>Latha T K</cp:lastModifiedBy>
  <cp:revision>2</cp:revision>
  <dcterms:created xsi:type="dcterms:W3CDTF">2026-07-11T11:05:34Z</dcterms:created>
  <dcterms:modified xsi:type="dcterms:W3CDTF">2026-10-22T05:17:53Z</dcterms:modified>
</cp:coreProperties>
</file>